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8" r:id="rId2"/>
  </p:sldMasterIdLst>
  <p:notesMasterIdLst>
    <p:notesMasterId r:id="rId11"/>
  </p:notesMasterIdLst>
  <p:handoutMasterIdLst>
    <p:handoutMasterId r:id="rId12"/>
  </p:handoutMasterIdLst>
  <p:sldIdLst>
    <p:sldId id="260" r:id="rId3"/>
    <p:sldId id="325" r:id="rId4"/>
    <p:sldId id="326" r:id="rId5"/>
    <p:sldId id="296" r:id="rId6"/>
    <p:sldId id="327" r:id="rId7"/>
    <p:sldId id="329" r:id="rId8"/>
    <p:sldId id="330" r:id="rId9"/>
    <p:sldId id="33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88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EC93B-9174-4CFC-BEFE-429C633F60A3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9A9FC-0A52-4DF9-8B03-61E0696FC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976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9EF82-112A-49D4-9178-1C04F19A394A}" type="datetimeFigureOut">
              <a:rPr lang="en-US" smtClean="0"/>
              <a:t>12/11/2013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CBEAD-8009-46D1-9E19-2DAD13489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6014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044B406-9351-4120-9AB5-E4D8383239EA}" type="datetime1">
              <a:rPr lang="es-ES">
                <a:solidFill>
                  <a:prstClr val="black"/>
                </a:solidFill>
              </a:rPr>
              <a:pPr eaLnBrk="1" hangingPunct="1"/>
              <a:t>11/12/2013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2129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smtClean="0">
                <a:solidFill>
                  <a:prstClr val="black"/>
                </a:solidFill>
              </a:rPr>
              <a:t>1</a:t>
            </a:r>
            <a:endParaRPr lang="es-ES">
              <a:solidFill>
                <a:prstClr val="black"/>
              </a:solidFill>
            </a:endParaRPr>
          </a:p>
        </p:txBody>
      </p:sp>
      <p:sp>
        <p:nvSpPr>
          <p:cNvPr id="2129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1961D65-B43F-494E-8387-4D6881C92422}" type="slidenum">
              <a:rPr lang="es-ES">
                <a:solidFill>
                  <a:prstClr val="black"/>
                </a:solidFill>
              </a:rPr>
              <a:pPr eaLnBrk="1" hangingPunct="1"/>
              <a:t>1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2129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11200"/>
            <a:ext cx="4605338" cy="3454400"/>
          </a:xfrm>
          <a:ln/>
        </p:spPr>
      </p:sp>
      <p:sp>
        <p:nvSpPr>
          <p:cNvPr id="2129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0"/>
            <a:ext cx="5542751" cy="3860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2951163"/>
          </a:xfrm>
          <a:prstGeom prst="rect">
            <a:avLst/>
          </a:prstGeom>
          <a:gradFill rotWithShape="0">
            <a:gsLst>
              <a:gs pos="0">
                <a:srgbClr val="CCCC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rgbClr val="CCCCCC"/>
              </a:solidFill>
              <a:latin typeface="Times" charset="0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0" y="6059488"/>
            <a:ext cx="9048750" cy="0"/>
          </a:xfrm>
          <a:prstGeom prst="line">
            <a:avLst/>
          </a:prstGeom>
          <a:noFill/>
          <a:ln w="9525">
            <a:solidFill>
              <a:srgbClr val="CCCC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6326188"/>
            <a:ext cx="234950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73100" y="277813"/>
            <a:ext cx="7824788" cy="2300287"/>
          </a:xfrm>
        </p:spPr>
        <p:txBody>
          <a:bodyPr/>
          <a:lstStyle>
            <a:lvl1pPr algn="ctr">
              <a:lnSpc>
                <a:spcPct val="120000"/>
              </a:lnSpc>
              <a:defRPr sz="44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73100" y="3095625"/>
            <a:ext cx="7824788" cy="2543175"/>
          </a:xfrm>
        </p:spPr>
        <p:txBody>
          <a:bodyPr/>
          <a:lstStyle>
            <a:lvl1pPr marL="0" indent="0" algn="ctr">
              <a:buFontTx/>
              <a:buNone/>
              <a:defRPr sz="2900"/>
            </a:lvl1pPr>
          </a:lstStyle>
          <a:p>
            <a:r>
              <a:rPr lang="en-US" alt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119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89571-512D-41F2-B7F5-4C1F70E73D7A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01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2F6E2-A6CD-479C-AF36-5B13175B828C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598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74688" y="1100138"/>
            <a:ext cx="3849687" cy="4516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76775" y="1100138"/>
            <a:ext cx="3851275" cy="4516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C76773-3ABC-4EC4-B730-8B8D827C2C13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76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8C9CC-CB59-4DCF-B946-28A2E4FB886E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22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91A36-845A-4C95-94C5-8101D04B6AE9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184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3626ED-5E83-448C-A392-98DCE52D2DE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88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BA400-D98D-4629-8565-5A2D2282FCC5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73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8D26BD-E913-47E7-BDD2-75B55A46CCA3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080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11C37F-1029-4C6D-A7F1-04FEC89463D9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2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6375" y="0"/>
            <a:ext cx="1971675" cy="561657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36588" y="0"/>
            <a:ext cx="5767387" cy="561657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F9E82-2546-44C2-BCAA-05C465CBFFB0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608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636588" y="0"/>
            <a:ext cx="7891462" cy="561657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C0BD3C-4E72-4437-A263-6D362E2A8374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538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ítulo, objet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6588" y="0"/>
            <a:ext cx="7826375" cy="67627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74688" y="1100138"/>
            <a:ext cx="3849687" cy="451643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676775" y="1100138"/>
            <a:ext cx="3851275" cy="4516437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65D9D-2E04-4ED3-A8CF-2242455FF88F}" type="slidenum">
              <a:rPr lang="es-E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139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y Slide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16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762000" y="1371600"/>
            <a:ext cx="7620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356350"/>
            <a:ext cx="1828800" cy="365125"/>
          </a:xfrm>
          <a:prstGeom prst="rect">
            <a:avLst/>
          </a:prstGeom>
        </p:spPr>
        <p:txBody>
          <a:bodyPr/>
          <a:lstStyle/>
          <a:p>
            <a:fld id="{1071B34E-28E2-CE46-A628-35F3E95D743C}" type="datetime1">
              <a:rPr lang="en-US" smtClean="0"/>
              <a:pPr/>
              <a:t>12/11/2013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Confidential Information  © 2010 M-I SWACO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</p:spPr>
        <p:txBody>
          <a:bodyPr vert="horz" tIns="0" bIns="0"/>
          <a:lstStyle>
            <a:lvl1pPr marL="164592" indent="-182880">
              <a:lnSpc>
                <a:spcPts val="2000"/>
              </a:lnSpc>
              <a:spcBef>
                <a:spcPts val="600"/>
              </a:spcBef>
              <a:spcAft>
                <a:spcPts val="1200"/>
              </a:spcAft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1pPr>
            <a:lvl2pPr marL="320040" indent="-182880">
              <a:lnSpc>
                <a:spcPts val="1600"/>
              </a:lnSpc>
              <a:spcBef>
                <a:spcPts val="900"/>
              </a:spcBef>
              <a:buClr>
                <a:schemeClr val="tx1"/>
              </a:buClr>
              <a:buFont typeface="Arial"/>
              <a:buChar char="•"/>
              <a:defRPr sz="1400" baseline="0">
                <a:latin typeface="Arial Narrow"/>
              </a:defRPr>
            </a:lvl2pPr>
          </a:lstStyle>
          <a:p>
            <a:pPr lvl="0"/>
            <a:r>
              <a:rPr lang="en-US" dirty="0" smtClean="0"/>
              <a:t>Primary bullet text (16 pt Arial Narrow, upper and lower case, flush left in a single column—width can be narrowed if required).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E35F0B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Introduction Text (20 pt Arial Narrow Bold)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3810000"/>
            <a:ext cx="8001000" cy="2057400"/>
          </a:xfrm>
          <a:prstGeom prst="rect">
            <a:avLst/>
          </a:prstGeom>
        </p:spPr>
        <p:txBody>
          <a:bodyPr vert="horz" tIns="0" bIns="0"/>
          <a:lstStyle>
            <a:lvl1pPr marL="164592" indent="-18288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Clr>
                <a:schemeClr val="tx1"/>
              </a:buClr>
              <a:buFont typeface="Arial"/>
              <a:buChar char="•"/>
              <a:defRPr sz="1400" baseline="0">
                <a:latin typeface="Arial Narrow"/>
              </a:defRPr>
            </a:lvl1pPr>
            <a:lvl2pPr marL="320040" indent="-182880">
              <a:lnSpc>
                <a:spcPts val="1600"/>
              </a:lnSpc>
              <a:spcBef>
                <a:spcPts val="900"/>
              </a:spcBef>
              <a:buClr>
                <a:schemeClr val="tx1"/>
              </a:buClr>
              <a:buFont typeface="Arial"/>
              <a:buChar char="•"/>
              <a:defRPr sz="1400" baseline="0">
                <a:latin typeface="Arial Narrow"/>
              </a:defRPr>
            </a:lvl2pPr>
          </a:lstStyle>
          <a:p>
            <a:pPr lvl="0"/>
            <a:r>
              <a:rPr lang="en-US" dirty="0" smtClean="0"/>
              <a:t>Secondary bullet text (14 pt Arial Narrow, upper and lower case, flush left in a single column—width can be narrowed if required).</a:t>
            </a:r>
          </a:p>
        </p:txBody>
      </p:sp>
    </p:spTree>
    <p:extLst>
      <p:ext uri="{BB962C8B-B14F-4D97-AF65-F5344CB8AC3E}">
        <p14:creationId xmlns:p14="http://schemas.microsoft.com/office/powerpoint/2010/main" val="2025112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16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762000" y="1371600"/>
            <a:ext cx="7620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1981201"/>
            <a:ext cx="7772400" cy="1219200"/>
          </a:xfrm>
          <a:prstGeom prst="rect">
            <a:avLst/>
          </a:prstGeom>
        </p:spPr>
        <p:txBody>
          <a:bodyPr anchor="t"/>
          <a:lstStyle>
            <a:lvl1pPr algn="l">
              <a:defRPr sz="3600" b="1" i="0" cap="none" baseline="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Main Title Presentation</a:t>
            </a:r>
            <a:br>
              <a:rPr lang="en-US" dirty="0" smtClean="0"/>
            </a:br>
            <a:r>
              <a:rPr lang="en-US" dirty="0" smtClean="0"/>
              <a:t>(36 pt Arial Narrow Bold)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3352801"/>
            <a:ext cx="7772400" cy="457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i="0" baseline="0">
                <a:solidFill>
                  <a:schemeClr val="tx1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Author Name (24 pt Arial Narrow Bold)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840D-CD3E-C744-BDD3-1ADB3B3873CB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722313" y="3962400"/>
            <a:ext cx="7772400" cy="3048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 baseline="0">
                <a:solidFill>
                  <a:schemeClr val="tx1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Job Title (20 pt Arial Narrow)</a:t>
            </a:r>
          </a:p>
        </p:txBody>
      </p:sp>
    </p:spTree>
    <p:extLst>
      <p:ext uri="{BB962C8B-B14F-4D97-AF65-F5344CB8AC3E}">
        <p14:creationId xmlns:p14="http://schemas.microsoft.com/office/powerpoint/2010/main" val="1871008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16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762000" y="1371600"/>
            <a:ext cx="7620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B34E-28E2-CE46-A628-35F3E95D743C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</p:spPr>
        <p:txBody>
          <a:bodyPr vert="horz" tIns="0" bIns="0"/>
          <a:lstStyle>
            <a:lvl1pPr marL="164592" indent="-182880">
              <a:lnSpc>
                <a:spcPts val="2000"/>
              </a:lnSpc>
              <a:spcBef>
                <a:spcPts val="600"/>
              </a:spcBef>
              <a:spcAft>
                <a:spcPts val="1200"/>
              </a:spcAft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1pPr>
            <a:lvl2pPr marL="320040" indent="-182880">
              <a:lnSpc>
                <a:spcPts val="1600"/>
              </a:lnSpc>
              <a:spcBef>
                <a:spcPts val="900"/>
              </a:spcBef>
              <a:buClr>
                <a:schemeClr val="tx1"/>
              </a:buClr>
              <a:buFont typeface="Arial"/>
              <a:buChar char="•"/>
              <a:defRPr sz="1400" baseline="0">
                <a:latin typeface="Arial Narrow"/>
              </a:defRPr>
            </a:lvl2pPr>
          </a:lstStyle>
          <a:p>
            <a:pPr lvl="0"/>
            <a:r>
              <a:rPr lang="en-US" dirty="0" smtClean="0"/>
              <a:t>Primary bullet text (16 pt Arial Narrow, upper and lower case, flush left in a single column—width can be narrowed if required).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E35F0B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Introduction Text (20 pt Arial Narrow Bold)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3810000"/>
            <a:ext cx="8001000" cy="2057400"/>
          </a:xfrm>
          <a:prstGeom prst="rect">
            <a:avLst/>
          </a:prstGeom>
        </p:spPr>
        <p:txBody>
          <a:bodyPr vert="horz" tIns="0" bIns="0"/>
          <a:lstStyle>
            <a:lvl1pPr marL="164592" indent="-182880">
              <a:lnSpc>
                <a:spcPts val="1600"/>
              </a:lnSpc>
              <a:spcBef>
                <a:spcPts val="600"/>
              </a:spcBef>
              <a:spcAft>
                <a:spcPts val="900"/>
              </a:spcAft>
              <a:buClr>
                <a:schemeClr val="tx1"/>
              </a:buClr>
              <a:buFont typeface="Arial"/>
              <a:buChar char="•"/>
              <a:defRPr sz="1400" baseline="0">
                <a:latin typeface="Arial Narrow"/>
              </a:defRPr>
            </a:lvl1pPr>
            <a:lvl2pPr marL="320040" indent="-182880">
              <a:lnSpc>
                <a:spcPts val="1600"/>
              </a:lnSpc>
              <a:spcBef>
                <a:spcPts val="900"/>
              </a:spcBef>
              <a:buClr>
                <a:schemeClr val="tx1"/>
              </a:buClr>
              <a:buFont typeface="Arial"/>
              <a:buChar char="•"/>
              <a:defRPr sz="1400" baseline="0">
                <a:latin typeface="Arial Narrow"/>
              </a:defRPr>
            </a:lvl2pPr>
          </a:lstStyle>
          <a:p>
            <a:pPr lvl="0"/>
            <a:r>
              <a:rPr lang="en-US" dirty="0" smtClean="0"/>
              <a:t>Secondary bullet text (14 pt Arial Narrow, upper and lower case, flush left in a single column—width can be narrowed if required).</a:t>
            </a:r>
          </a:p>
        </p:txBody>
      </p:sp>
    </p:spTree>
    <p:extLst>
      <p:ext uri="{BB962C8B-B14F-4D97-AF65-F5344CB8AC3E}">
        <p14:creationId xmlns:p14="http://schemas.microsoft.com/office/powerpoint/2010/main" val="1444623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ptexp00001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533400" y="1066800"/>
            <a:ext cx="8077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E35F0B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Introduction Text (20 pt Arial Narrow Bold)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81D3C-3386-4D4D-9574-EC3EA20772E5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28800"/>
            <a:ext cx="3886200" cy="4114800"/>
          </a:xfrm>
          <a:prstGeom prst="rect">
            <a:avLst/>
          </a:prstGeom>
        </p:spPr>
        <p:txBody>
          <a:bodyPr vert="horz" tIns="0" bIns="0"/>
          <a:lstStyle>
            <a:lvl1pPr marL="164592" indent="-182880">
              <a:lnSpc>
                <a:spcPts val="2000"/>
              </a:lnSpc>
              <a:spcBef>
                <a:spcPts val="600"/>
              </a:spcBef>
              <a:spcAft>
                <a:spcPts val="1200"/>
              </a:spcAft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1pPr>
            <a:lvl2pPr marL="0" indent="0">
              <a:lnSpc>
                <a:spcPts val="2000"/>
              </a:lnSpc>
              <a:spcBef>
                <a:spcPts val="0"/>
              </a:spcBef>
              <a:spcAft>
                <a:spcPts val="900"/>
              </a:spcAft>
              <a:buFontTx/>
              <a:buNone/>
              <a:defRPr sz="1600" baseline="0">
                <a:latin typeface="Arial Narrow"/>
              </a:defRPr>
            </a:lvl2pPr>
            <a:lvl3pPr marL="0" indent="0">
              <a:lnSpc>
                <a:spcPts val="2000"/>
              </a:lnSpc>
              <a:spcBef>
                <a:spcPts val="0"/>
              </a:spcBef>
              <a:spcAft>
                <a:spcPts val="900"/>
              </a:spcAft>
              <a:buFontTx/>
              <a:buNone/>
              <a:defRPr sz="1600" baseline="0">
                <a:latin typeface="Arial Narrow"/>
              </a:defRPr>
            </a:lvl3pPr>
            <a:lvl4pPr marL="0" indent="0">
              <a:lnSpc>
                <a:spcPts val="2000"/>
              </a:lnSpc>
              <a:spcBef>
                <a:spcPts val="0"/>
              </a:spcBef>
              <a:spcAft>
                <a:spcPts val="900"/>
              </a:spcAft>
              <a:buFontTx/>
              <a:buNone/>
              <a:defRPr sz="1600" baseline="0">
                <a:latin typeface="Arial Narrow"/>
              </a:defRPr>
            </a:lvl4pPr>
            <a:lvl5pPr marL="0" indent="0">
              <a:lnSpc>
                <a:spcPts val="2000"/>
              </a:lnSpc>
              <a:spcBef>
                <a:spcPts val="0"/>
              </a:spcBef>
              <a:spcAft>
                <a:spcPts val="900"/>
              </a:spcAft>
              <a:buFontTx/>
              <a:buNone/>
              <a:defRPr sz="1600" baseline="0">
                <a:latin typeface="Arial Narrow"/>
              </a:defRPr>
            </a:lvl5pPr>
          </a:lstStyle>
          <a:p>
            <a:pPr lvl="0"/>
            <a:r>
              <a:rPr lang="en-US" dirty="0" smtClean="0"/>
              <a:t>Bullet text (16 pt Arial Narrow), right hand column text, upper and lower case, flush left in a single column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1828800"/>
            <a:ext cx="3962400" cy="4114800"/>
          </a:xfrm>
          <a:prstGeom prst="rect">
            <a:avLst/>
          </a:prstGeom>
        </p:spPr>
        <p:txBody>
          <a:bodyPr vert="horz" tIns="0" bIns="0"/>
          <a:lstStyle>
            <a:lvl1pPr marL="164592" indent="-182880">
              <a:lnSpc>
                <a:spcPts val="2000"/>
              </a:lnSpc>
              <a:spcBef>
                <a:spcPts val="600"/>
              </a:spcBef>
              <a:spcAft>
                <a:spcPts val="1200"/>
              </a:spcAft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1pPr>
            <a:lvl2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2pPr>
            <a:lvl3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3pPr>
            <a:lvl4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4pPr>
            <a:lvl5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5pPr>
          </a:lstStyle>
          <a:p>
            <a:pPr lvl="0"/>
            <a:r>
              <a:rPr lang="en-US" dirty="0" smtClean="0"/>
              <a:t>Bullet text (16 pt Arial Narrow), right hand column text, upper and lower case, flush left in a single column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4568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C04EF-7056-0540-8697-5673B330E9AC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915400" cy="594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 Narrow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32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graph Slid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E250-B699-CB43-88A7-8EF6E02ACBD9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371600"/>
            <a:ext cx="8223250" cy="457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 Narrow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923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pptexp00003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457200" y="1143000"/>
            <a:ext cx="8077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E250-B699-CB43-88A7-8EF6E02ACBD9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(38 pt Arial Narrow Bold)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57200" y="1371600"/>
            <a:ext cx="8229600" cy="457200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 Narrow"/>
              </a:defRPr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147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pptexp00002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533400" y="1066800"/>
            <a:ext cx="8077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E250-B699-CB43-88A7-8EF6E02ACBD9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able Placeholder 10"/>
          <p:cNvSpPr>
            <a:spLocks noGrp="1"/>
          </p:cNvSpPr>
          <p:nvPr>
            <p:ph type="tbl" sz="quarter" idx="13"/>
          </p:nvPr>
        </p:nvSpPr>
        <p:spPr>
          <a:xfrm>
            <a:off x="457200" y="1371600"/>
            <a:ext cx="8229600" cy="464820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 Narrow"/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223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graph and Cop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pptexp00003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533400" y="1066800"/>
            <a:ext cx="8001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E35F0B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Subhead Text (20 pt Arial Narrow Bold)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81D3C-3386-4D4D-9574-EC3EA20772E5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457200" y="1828800"/>
            <a:ext cx="3886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 Narrow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1828800"/>
            <a:ext cx="3962400" cy="4114800"/>
          </a:xfrm>
          <a:prstGeom prst="rect">
            <a:avLst/>
          </a:prstGeom>
        </p:spPr>
        <p:txBody>
          <a:bodyPr vert="horz" tIns="0" bIns="0"/>
          <a:lstStyle>
            <a:lvl1pPr marL="164592" indent="-182880">
              <a:lnSpc>
                <a:spcPts val="2000"/>
              </a:lnSpc>
              <a:spcBef>
                <a:spcPts val="600"/>
              </a:spcBef>
              <a:spcAft>
                <a:spcPts val="1200"/>
              </a:spcAft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1pPr>
            <a:lvl2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2pPr>
            <a:lvl3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3pPr>
            <a:lvl4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4pPr>
            <a:lvl5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5pPr>
          </a:lstStyle>
          <a:p>
            <a:pPr lvl="0"/>
            <a:r>
              <a:rPr lang="en-US" dirty="0" smtClean="0"/>
              <a:t>Bullet text (16 pt Arial Narrow), right hand column text, upper and lower case, flush left in a single column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8293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p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pptexp00002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457200" y="1066800"/>
            <a:ext cx="8077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E35F0B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Subhead Text (20 pt Arial Narrow Bold)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81D3C-3386-4D4D-9574-EC3EA20772E5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457200" y="1828800"/>
            <a:ext cx="3962400" cy="411480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 Narrow"/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1828800"/>
            <a:ext cx="3962400" cy="4114800"/>
          </a:xfrm>
          <a:prstGeom prst="rect">
            <a:avLst/>
          </a:prstGeom>
        </p:spPr>
        <p:txBody>
          <a:bodyPr vert="horz" tIns="0" bIns="0"/>
          <a:lstStyle>
            <a:lvl1pPr marL="164592" indent="-182880">
              <a:lnSpc>
                <a:spcPts val="2000"/>
              </a:lnSpc>
              <a:spcBef>
                <a:spcPts val="600"/>
              </a:spcBef>
              <a:spcAft>
                <a:spcPts val="1200"/>
              </a:spcAft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1pPr>
            <a:lvl2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2pPr>
            <a:lvl3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3pPr>
            <a:lvl4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4pPr>
            <a:lvl5pPr marL="164592" indent="-182880">
              <a:lnSpc>
                <a:spcPts val="2000"/>
              </a:lnSpc>
              <a:spcBef>
                <a:spcPts val="600"/>
              </a:spcBef>
              <a:buClr>
                <a:srgbClr val="E35F0B"/>
              </a:buClr>
              <a:buFont typeface="Arial"/>
              <a:buChar char="•"/>
              <a:defRPr sz="1600" baseline="0">
                <a:latin typeface="Arial Narrow"/>
              </a:defRPr>
            </a:lvl5pPr>
          </a:lstStyle>
          <a:p>
            <a:pPr lvl="0"/>
            <a:r>
              <a:rPr lang="en-US" dirty="0" smtClean="0"/>
              <a:t>Bullet text (16 pt Arial Narrow), right hand column text, upper and lower case, flush left in a single column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25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pptexp00000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533400" y="1066800"/>
            <a:ext cx="8001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E35F0B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Subhead Text (20 pt Arial Narrow Bold)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81D3C-3386-4D4D-9574-EC3EA20772E5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457200" y="1828800"/>
            <a:ext cx="38862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 Narrow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457200" y="4876800"/>
            <a:ext cx="3886200" cy="106680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ts val="2000"/>
              </a:lnSpc>
              <a:spcBef>
                <a:spcPts val="0"/>
              </a:spcBef>
              <a:buFontTx/>
              <a:buNone/>
              <a:defRPr sz="1600">
                <a:latin typeface="Arial Narrow"/>
                <a:cs typeface="Arial Narrow"/>
              </a:defRPr>
            </a:lvl1pPr>
            <a:lvl2pPr>
              <a:defRPr sz="1600">
                <a:latin typeface="Aria narrow"/>
                <a:cs typeface="Aria narrow"/>
              </a:defRPr>
            </a:lvl2pPr>
            <a:lvl3pPr>
              <a:defRPr sz="1600">
                <a:latin typeface="Aria narrow"/>
                <a:cs typeface="Aria narrow"/>
              </a:defRPr>
            </a:lvl3pPr>
            <a:lvl4pPr>
              <a:defRPr sz="1600">
                <a:latin typeface="Aria narrow"/>
                <a:cs typeface="Aria narrow"/>
              </a:defRPr>
            </a:lvl4pPr>
            <a:lvl5pPr>
              <a:defRPr sz="1600">
                <a:latin typeface="Aria narrow"/>
                <a:cs typeface="Aria narrow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6"/>
          </p:nvPr>
        </p:nvSpPr>
        <p:spPr>
          <a:xfrm>
            <a:off x="4648200" y="1828800"/>
            <a:ext cx="38862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 Narrow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648200" y="4876800"/>
            <a:ext cx="3886200" cy="106680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ts val="2000"/>
              </a:lnSpc>
              <a:spcBef>
                <a:spcPts val="0"/>
              </a:spcBef>
              <a:buFontTx/>
              <a:buNone/>
              <a:defRPr sz="1600">
                <a:latin typeface="Arial Narrow"/>
                <a:cs typeface="Arial Narrow"/>
              </a:defRPr>
            </a:lvl1pPr>
            <a:lvl2pPr>
              <a:defRPr sz="1600">
                <a:latin typeface="Aria narrow"/>
                <a:cs typeface="Aria narrow"/>
              </a:defRPr>
            </a:lvl2pPr>
            <a:lvl3pPr>
              <a:defRPr sz="1600">
                <a:latin typeface="Aria narrow"/>
                <a:cs typeface="Aria narrow"/>
              </a:defRPr>
            </a:lvl3pPr>
            <a:lvl4pPr>
              <a:defRPr sz="1600">
                <a:latin typeface="Aria narrow"/>
                <a:cs typeface="Aria narrow"/>
              </a:defRPr>
            </a:lvl4pPr>
            <a:lvl5pPr>
              <a:defRPr sz="1600">
                <a:latin typeface="Aria narrow"/>
                <a:cs typeface="Aria narrow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39122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ptexp00003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533400" y="1066800"/>
            <a:ext cx="8001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E35F0B"/>
                </a:solidFill>
                <a:latin typeface="Arial Narrow"/>
                <a:cs typeface="Arial Narrow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Subhead Text (20 pt Arial Narrow Bold)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81D3C-3386-4D4D-9574-EC3EA20772E5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457200" y="1828800"/>
            <a:ext cx="38862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 Narrow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457200" y="4876800"/>
            <a:ext cx="3886200" cy="1066800"/>
          </a:xfrm>
          <a:prstGeom prst="rect">
            <a:avLst/>
          </a:prstGeom>
        </p:spPr>
        <p:txBody>
          <a:bodyPr vert="horz" lIns="0" tIns="0"/>
          <a:lstStyle>
            <a:lvl1pPr marL="0" indent="0">
              <a:lnSpc>
                <a:spcPts val="2000"/>
              </a:lnSpc>
              <a:spcBef>
                <a:spcPts val="0"/>
              </a:spcBef>
              <a:buFontTx/>
              <a:buNone/>
              <a:defRPr sz="1600">
                <a:latin typeface="Arial Narrow"/>
                <a:cs typeface="Arial Narrow"/>
              </a:defRPr>
            </a:lvl1pPr>
            <a:lvl2pPr>
              <a:defRPr sz="1600">
                <a:latin typeface="Aria narrow"/>
                <a:cs typeface="Aria narrow"/>
              </a:defRPr>
            </a:lvl2pPr>
            <a:lvl3pPr>
              <a:defRPr sz="1600">
                <a:latin typeface="Aria narrow"/>
                <a:cs typeface="Aria narrow"/>
              </a:defRPr>
            </a:lvl3pPr>
            <a:lvl4pPr>
              <a:defRPr sz="1600">
                <a:latin typeface="Aria narrow"/>
                <a:cs typeface="Aria narrow"/>
              </a:defRPr>
            </a:lvl4pPr>
            <a:lvl5pPr>
              <a:defRPr sz="1600">
                <a:latin typeface="Aria narrow"/>
                <a:cs typeface="Aria narrow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able Placeholder 16"/>
          <p:cNvSpPr>
            <a:spLocks noGrp="1"/>
          </p:cNvSpPr>
          <p:nvPr>
            <p:ph type="tbl" sz="quarter" idx="17"/>
          </p:nvPr>
        </p:nvSpPr>
        <p:spPr>
          <a:xfrm>
            <a:off x="4648200" y="1828800"/>
            <a:ext cx="3886200" cy="281940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 Narrow"/>
              </a:defRPr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102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al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pptexp00002"/>
          <p:cNvPicPr>
            <a:picLocks noChangeAspect="1" noChangeArrowheads="1"/>
          </p:cNvPicPr>
          <p:nvPr userDrawn="1"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457200" y="1143000"/>
            <a:ext cx="8001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E250-B699-CB43-88A7-8EF6E02ACBD9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8229600" cy="758825"/>
          </a:xfrm>
          <a:prstGeom prst="rect">
            <a:avLst/>
          </a:prstGeom>
        </p:spPr>
        <p:txBody>
          <a:bodyPr anchor="ctr" anchorCtr="0"/>
          <a:lstStyle>
            <a:lvl1pPr>
              <a:defRPr sz="2800">
                <a:solidFill>
                  <a:srgbClr val="E35F0B"/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 smtClean="0"/>
              <a:t>Slide Heading (28 pt Arial Narrow Bold)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33463"/>
            <a:ext cx="8915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martArt Placeholder 14"/>
          <p:cNvSpPr>
            <a:spLocks noGrp="1"/>
          </p:cNvSpPr>
          <p:nvPr>
            <p:ph type="dgm" sz="quarter" idx="15"/>
          </p:nvPr>
        </p:nvSpPr>
        <p:spPr>
          <a:xfrm>
            <a:off x="457200" y="1371600"/>
            <a:ext cx="8229600" cy="457200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Arial Narrow"/>
              </a:defRPr>
            </a:lvl1pPr>
          </a:lstStyle>
          <a:p>
            <a:r>
              <a:rPr lang="en-US" smtClean="0"/>
              <a:t>Click icon to add SmartArt graphic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029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49288" y="6327775"/>
            <a:ext cx="2805112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US" sz="1000" dirty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CONFIDENTIAL INFORMATION ©2009 M-I </a:t>
            </a:r>
            <a:r>
              <a:rPr lang="en-US" sz="500" i="1" dirty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L.L.C.</a:t>
            </a:r>
            <a:endParaRPr lang="en-US" sz="1000" dirty="0">
              <a:solidFill>
                <a:prstClr val="white">
                  <a:lumMod val="50000"/>
                </a:prstClr>
              </a:solidFill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050" y="366713"/>
            <a:ext cx="7691438" cy="42703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138" y="1187450"/>
            <a:ext cx="3768725" cy="8969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263" y="1187450"/>
            <a:ext cx="3770312" cy="8969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2A1CC-D8CC-4119-96E4-14BBDB3EB8E3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84158"/>
      </p:ext>
    </p:extLst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513" y="168275"/>
            <a:ext cx="7826375" cy="67627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287463"/>
            <a:ext cx="7853363" cy="45164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F499093-0A25-494A-9FB9-094DB69559DC}" type="slidenum">
              <a:rPr lang="en-US" altLang="en-US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7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1384300"/>
          </a:xfrm>
          <a:prstGeom prst="rect">
            <a:avLst/>
          </a:prstGeom>
          <a:gradFill rotWithShape="0">
            <a:gsLst>
              <a:gs pos="0">
                <a:srgbClr val="CCCC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400">
              <a:solidFill>
                <a:srgbClr val="CCCCCC"/>
              </a:solidFill>
              <a:latin typeface="Times" charset="0"/>
            </a:endParaRPr>
          </a:p>
        </p:txBody>
      </p:sp>
      <p:sp>
        <p:nvSpPr>
          <p:cNvPr id="14339" name="Line 3"/>
          <p:cNvSpPr>
            <a:spLocks noChangeShapeType="1"/>
          </p:cNvSpPr>
          <p:nvPr/>
        </p:nvSpPr>
        <p:spPr bwMode="auto">
          <a:xfrm>
            <a:off x="0" y="6069013"/>
            <a:ext cx="9144000" cy="0"/>
          </a:xfrm>
          <a:prstGeom prst="line">
            <a:avLst/>
          </a:prstGeom>
          <a:noFill/>
          <a:ln w="9525">
            <a:solidFill>
              <a:srgbClr val="CCCC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rgbClr val="F465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6305550"/>
            <a:ext cx="2349500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36588" y="0"/>
            <a:ext cx="7826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4688" y="1100138"/>
            <a:ext cx="7853362" cy="451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348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F62C87-6F40-4629-9BE9-3B1568ADC6AE}" type="slidenum">
              <a:rPr lang="es-ES">
                <a:solidFill>
                  <a:srgbClr val="000000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s-E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0" y="6165850"/>
            <a:ext cx="3681413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spcBef>
                <a:spcPct val="25000"/>
              </a:spcBef>
              <a:spcAft>
                <a:spcPct val="10000"/>
              </a:spcAft>
              <a:buClr>
                <a:srgbClr val="F46500"/>
              </a:buClr>
              <a:defRPr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12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748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5000"/>
        </a:spcBef>
        <a:spcAft>
          <a:spcPct val="10000"/>
        </a:spcAft>
        <a:buClr>
          <a:srgbClr val="F465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0000"/>
        </a:lnSpc>
        <a:spcBef>
          <a:spcPct val="20000"/>
        </a:spcBef>
        <a:spcAft>
          <a:spcPct val="10000"/>
        </a:spcAft>
        <a:buClr>
          <a:srgbClr val="F46500"/>
        </a:buClr>
        <a:buSzPct val="110000"/>
        <a:buChar char="-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20000"/>
        </a:spcBef>
        <a:spcAft>
          <a:spcPct val="10000"/>
        </a:spcAft>
        <a:buClr>
          <a:srgbClr val="F46500"/>
        </a:buClr>
        <a:buSzPct val="8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F46500"/>
        </a:buClr>
        <a:buChar char="-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46500"/>
        </a:buClr>
        <a:buSzPct val="75000"/>
        <a:buChar char="•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46500"/>
        </a:buClr>
        <a:buSzPct val="75000"/>
        <a:buChar char="•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46500"/>
        </a:buClr>
        <a:buSzPct val="75000"/>
        <a:buChar char="•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46500"/>
        </a:buClr>
        <a:buSzPct val="75000"/>
        <a:buChar char="•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46500"/>
        </a:buClr>
        <a:buSzPct val="75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defTabSz="457200"/>
            <a:fld id="{91AB7656-1AF0-D144-A06C-8C3E4340183D}" type="datetime1">
              <a:rPr lang="en-US" smtClean="0">
                <a:solidFill>
                  <a:prstClr val="black"/>
                </a:solidFill>
              </a:rPr>
              <a:pPr defTabSz="457200"/>
              <a:t>12/11/2013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5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defTabSz="457200"/>
            <a:r>
              <a:rPr lang="en-US" dirty="0" smtClean="0">
                <a:solidFill>
                  <a:prstClr val="black"/>
                </a:solidFill>
              </a:rPr>
              <a:t>Confidential Information  © 2010 M-I SWACO 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defTabSz="457200"/>
            <a:fld id="{60F1E8D5-C2E3-A14D-97AF-524B2C713D1A}" type="slidenum">
              <a:rPr lang="en-US" smtClean="0">
                <a:solidFill>
                  <a:prstClr val="black"/>
                </a:solidFill>
              </a:rPr>
              <a:pPr defTabSz="457200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9" name="Picture 5" descr="logo_for_ppt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 bwMode="auto">
          <a:xfrm>
            <a:off x="6126574" y="6272212"/>
            <a:ext cx="262179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DC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 defTabSz="457200"/>
            <a:endParaRPr lang="en-US" dirty="0">
              <a:solidFill>
                <a:srgbClr val="FFFFFF"/>
              </a:solidFill>
              <a:ea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8883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</p:sldLayoutIdLst>
  <p:hf hdr="0"/>
  <p:txStyles>
    <p:titleStyle>
      <a:lvl1pPr marL="0" indent="0" algn="l" defTabSz="457200" rtl="0" eaLnBrk="1" latinLnBrk="0" hangingPunct="1">
        <a:spcBef>
          <a:spcPct val="0"/>
        </a:spcBef>
        <a:buNone/>
        <a:defRPr sz="3600" b="1" i="0" kern="1200">
          <a:solidFill>
            <a:schemeClr val="accent6">
              <a:lumMod val="75000"/>
            </a:schemeClr>
          </a:solidFill>
          <a:latin typeface="Arial Narrow MT"/>
          <a:ea typeface="+mj-ea"/>
          <a:cs typeface="Arial Narrow M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3 Marcador de número de diapositiva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9CEDFF2-90F7-434C-B077-D0C3497C40CE}" type="slidenum">
              <a:rPr lang="es-ES" smtClean="0">
                <a:solidFill>
                  <a:srgbClr val="000000"/>
                </a:solidFill>
              </a:rPr>
              <a:pPr eaLnBrk="1" hangingPunct="1"/>
              <a:t>1</a:t>
            </a:fld>
            <a:endParaRPr lang="es-ES" smtClean="0">
              <a:solidFill>
                <a:srgbClr val="000000"/>
              </a:solidFill>
            </a:endParaRPr>
          </a:p>
        </p:txBody>
      </p:sp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1885950" y="1471613"/>
            <a:ext cx="5181600" cy="3071610"/>
          </a:xfrm>
          <a:prstGeom prst="rect">
            <a:avLst/>
          </a:prstGeom>
          <a:noFill/>
          <a:ln w="38100">
            <a:solidFill>
              <a:srgbClr val="FF6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s-ES_tradnl" sz="4400" b="1" dirty="0">
                <a:solidFill>
                  <a:srgbClr val="FF6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ONE-TRAX</a:t>
            </a:r>
            <a:r>
              <a:rPr lang="es-ES_tradnl" sz="4400" b="1" baseline="36000" dirty="0" smtClean="0">
                <a:solidFill>
                  <a:srgbClr val="FF6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®</a:t>
            </a:r>
            <a:endParaRPr lang="es-ES_tradnl" sz="4000" dirty="0">
              <a:solidFill>
                <a:srgbClr val="FF6000"/>
              </a:solidFill>
              <a:latin typeface="Tahoma" pitchFamily="34" charset="0"/>
            </a:endParaRPr>
          </a:p>
          <a:p>
            <a:pPr algn="ctr" eaLnBrk="0" fontAlgn="base" hangingPunct="0">
              <a:spcBef>
                <a:spcPct val="10000"/>
              </a:spcBef>
              <a:spcAft>
                <a:spcPct val="0"/>
              </a:spcAft>
              <a:defRPr/>
            </a:pPr>
            <a:endParaRPr lang="es-ES_tradnl" sz="3200" dirty="0" smtClean="0">
              <a:solidFill>
                <a:srgbClr val="FF6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</a:endParaRPr>
          </a:p>
          <a:p>
            <a:pPr algn="ctr" eaLnBrk="0" fontAlgn="base" hangingPunct="0">
              <a:spcBef>
                <a:spcPct val="10000"/>
              </a:spcBef>
              <a:spcAft>
                <a:spcPct val="0"/>
              </a:spcAft>
              <a:defRPr/>
            </a:pPr>
            <a:endParaRPr lang="es-ES_tradnl" sz="3200" dirty="0">
              <a:solidFill>
                <a:srgbClr val="FF6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</a:endParaRPr>
          </a:p>
          <a:p>
            <a:pPr algn="ctr" eaLnBrk="0" fontAlgn="base" hangingPunct="0">
              <a:spcBef>
                <a:spcPct val="10000"/>
              </a:spcBef>
              <a:spcAft>
                <a:spcPct val="0"/>
              </a:spcAft>
              <a:defRPr/>
            </a:pPr>
            <a:r>
              <a:rPr lang="es-ES_tradnl" sz="3600" dirty="0" smtClean="0">
                <a:solidFill>
                  <a:srgbClr val="FF6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Diseño     </a:t>
            </a:r>
          </a:p>
          <a:p>
            <a:pPr algn="ctr" eaLnBrk="0" fontAlgn="base" hangingPunct="0">
              <a:spcBef>
                <a:spcPct val="10000"/>
              </a:spcBef>
              <a:spcAft>
                <a:spcPct val="0"/>
              </a:spcAft>
              <a:defRPr/>
            </a:pPr>
            <a:r>
              <a:rPr lang="es-ES_tradnl" sz="3600" dirty="0" err="1" smtClean="0">
                <a:solidFill>
                  <a:srgbClr val="FF6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Side</a:t>
            </a:r>
            <a:r>
              <a:rPr lang="es-ES_tradnl" sz="3600" dirty="0" smtClean="0">
                <a:solidFill>
                  <a:srgbClr val="FF6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s-ES_tradnl" sz="3600" dirty="0" err="1" smtClean="0">
                <a:solidFill>
                  <a:srgbClr val="FF6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Track</a:t>
            </a:r>
            <a:endParaRPr lang="es-ES_tradnl" sz="3600" dirty="0" smtClean="0">
              <a:solidFill>
                <a:srgbClr val="FF6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1988604" y="4850745"/>
            <a:ext cx="5346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2800" dirty="0" smtClean="0">
                <a:solidFill>
                  <a:srgbClr val="000000"/>
                </a:solidFill>
                <a:latin typeface="Palatino Linotype" pitchFamily="18" charset="0"/>
              </a:rPr>
              <a:t>Lección Nº 9</a:t>
            </a:r>
            <a:endParaRPr lang="en-US" sz="2800" dirty="0">
              <a:solidFill>
                <a:srgbClr val="000000"/>
              </a:solidFill>
              <a:latin typeface="Palatino Linotype" pitchFamily="18" charset="0"/>
            </a:endParaRPr>
          </a:p>
        </p:txBody>
      </p:sp>
      <p:sp>
        <p:nvSpPr>
          <p:cNvPr id="12" name="AutoShape 1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6239002"/>
            <a:ext cx="2819400" cy="400752"/>
          </a:xfrm>
          <a:prstGeom prst="actionButtonBlank">
            <a:avLst/>
          </a:prstGeom>
          <a:solidFill>
            <a:schemeClr val="bg1"/>
          </a:solidFill>
          <a:ln>
            <a:noFill/>
          </a:ln>
        </p:spPr>
        <p:txBody>
          <a:bodyPr wrap="square" lIns="92075" tIns="46038" rIns="92075" bIns="46038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6000"/>
              </a:buClr>
              <a:buSzPct val="50000"/>
              <a:buFont typeface="Wingdings" pitchFamily="2" charset="2"/>
              <a:buNone/>
            </a:pPr>
            <a:r>
              <a:rPr lang="en-US" sz="1000" b="1" dirty="0" smtClean="0">
                <a:solidFill>
                  <a:srgbClr val="000000"/>
                </a:solidFill>
              </a:rPr>
              <a:t>Cesar Figueroa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6000"/>
              </a:buClr>
              <a:buSzPct val="50000"/>
              <a:buFont typeface="Wingdings" pitchFamily="2" charset="2"/>
              <a:buNone/>
            </a:pPr>
            <a:r>
              <a:rPr lang="en-US" sz="1000" b="1" dirty="0" smtClean="0">
                <a:solidFill>
                  <a:srgbClr val="000000"/>
                </a:solidFill>
              </a:rPr>
              <a:t>( Software Champions )  </a:t>
            </a:r>
            <a:r>
              <a:rPr lang="en-US" sz="1000" b="1" dirty="0" err="1" smtClean="0">
                <a:solidFill>
                  <a:srgbClr val="000000"/>
                </a:solidFill>
              </a:rPr>
              <a:t>Neuquen</a:t>
            </a:r>
            <a:r>
              <a:rPr lang="en-US" sz="1000" b="1" dirty="0" smtClean="0">
                <a:solidFill>
                  <a:srgbClr val="000000"/>
                </a:solidFill>
              </a:rPr>
              <a:t>-Argentina</a:t>
            </a:r>
            <a:endParaRPr lang="en-US" sz="12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5279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81D3C-3386-4D4D-9574-EC3EA20772E5}" type="datetime1">
              <a:rPr lang="en-US" smtClean="0"/>
              <a:pPr/>
              <a:t>12/11/2013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Instrucciones </a:t>
            </a:r>
            <a:r>
              <a:rPr lang="es-ES_tradnl" dirty="0" err="1" smtClean="0"/>
              <a:t>Side</a:t>
            </a:r>
            <a:r>
              <a:rPr lang="es-ES_tradnl" dirty="0" smtClean="0"/>
              <a:t> </a:t>
            </a:r>
            <a:r>
              <a:rPr lang="es-ES_tradnl" dirty="0" err="1" smtClean="0"/>
              <a:t>Track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495800"/>
          </a:xfrm>
        </p:spPr>
        <p:txBody>
          <a:bodyPr/>
          <a:lstStyle/>
          <a:p>
            <a:endParaRPr lang="es-ES" sz="1400" b="0" dirty="0" smtClean="0"/>
          </a:p>
          <a:p>
            <a:endParaRPr lang="es-ES" sz="1400" b="0" dirty="0"/>
          </a:p>
          <a:p>
            <a:r>
              <a:rPr lang="es-ES" sz="1600" dirty="0" smtClean="0">
                <a:solidFill>
                  <a:schemeClr val="tx1"/>
                </a:solidFill>
              </a:rPr>
              <a:t>Procedimiento para realizar un </a:t>
            </a:r>
            <a:r>
              <a:rPr lang="es-ES" sz="1600" dirty="0" err="1" smtClean="0">
                <a:solidFill>
                  <a:schemeClr val="tx1"/>
                </a:solidFill>
              </a:rPr>
              <a:t>Side</a:t>
            </a:r>
            <a:r>
              <a:rPr lang="es-ES" sz="1600" dirty="0" smtClean="0">
                <a:solidFill>
                  <a:schemeClr val="tx1"/>
                </a:solidFill>
              </a:rPr>
              <a:t> </a:t>
            </a:r>
            <a:r>
              <a:rPr lang="es-ES" sz="1600" dirty="0" err="1" smtClean="0">
                <a:solidFill>
                  <a:schemeClr val="tx1"/>
                </a:solidFill>
              </a:rPr>
              <a:t>Track</a:t>
            </a:r>
            <a:endParaRPr lang="es-ES" sz="1600" dirty="0" smtClean="0">
              <a:solidFill>
                <a:schemeClr val="tx1"/>
              </a:solidFill>
            </a:endParaRPr>
          </a:p>
          <a:p>
            <a:endParaRPr lang="es-ES" sz="1400" b="0" dirty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1400" b="0" dirty="0" smtClean="0">
                <a:solidFill>
                  <a:schemeClr val="tx1"/>
                </a:solidFill>
              </a:rPr>
              <a:t>Fijar en Bit </a:t>
            </a:r>
            <a:r>
              <a:rPr lang="es-ES" sz="1400" b="0" dirty="0" err="1" smtClean="0">
                <a:solidFill>
                  <a:schemeClr val="tx1"/>
                </a:solidFill>
              </a:rPr>
              <a:t>Depth</a:t>
            </a:r>
            <a:r>
              <a:rPr lang="es-ES" sz="1400" b="0" dirty="0" smtClean="0">
                <a:solidFill>
                  <a:schemeClr val="tx1"/>
                </a:solidFill>
              </a:rPr>
              <a:t> , la profundidad donde se fijó el Tope del Tapón de cemento.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b="0" dirty="0" smtClean="0">
                <a:solidFill>
                  <a:schemeClr val="tx1"/>
                </a:solidFill>
              </a:rPr>
              <a:t>En la sección de </a:t>
            </a:r>
            <a:r>
              <a:rPr lang="es-ES" sz="1400" b="0" dirty="0" err="1" smtClean="0">
                <a:solidFill>
                  <a:schemeClr val="tx1"/>
                </a:solidFill>
              </a:rPr>
              <a:t>Well</a:t>
            </a:r>
            <a:r>
              <a:rPr lang="es-ES" sz="1400" b="0" dirty="0" smtClean="0">
                <a:solidFill>
                  <a:schemeClr val="tx1"/>
                </a:solidFill>
              </a:rPr>
              <a:t> </a:t>
            </a:r>
            <a:r>
              <a:rPr lang="es-ES" sz="1400" b="0" dirty="0" err="1" smtClean="0">
                <a:solidFill>
                  <a:schemeClr val="tx1"/>
                </a:solidFill>
              </a:rPr>
              <a:t>Geometry</a:t>
            </a:r>
            <a:r>
              <a:rPr lang="es-ES" sz="1400" b="0" dirty="0" smtClean="0">
                <a:solidFill>
                  <a:schemeClr val="tx1"/>
                </a:solidFill>
              </a:rPr>
              <a:t>-------</a:t>
            </a:r>
            <a:r>
              <a:rPr lang="es-ES" sz="1400" b="0" dirty="0" err="1" smtClean="0">
                <a:solidFill>
                  <a:schemeClr val="tx1"/>
                </a:solidFill>
              </a:rPr>
              <a:t>Daily</a:t>
            </a:r>
            <a:r>
              <a:rPr lang="es-ES" sz="1400" b="0" dirty="0" smtClean="0">
                <a:solidFill>
                  <a:schemeClr val="tx1"/>
                </a:solidFill>
              </a:rPr>
              <a:t> </a:t>
            </a:r>
            <a:r>
              <a:rPr lang="es-ES" sz="1400" b="0" dirty="0" err="1" smtClean="0">
                <a:solidFill>
                  <a:schemeClr val="tx1"/>
                </a:solidFill>
              </a:rPr>
              <a:t>Casing</a:t>
            </a:r>
            <a:r>
              <a:rPr lang="es-ES" sz="1400" b="0" dirty="0" smtClean="0">
                <a:solidFill>
                  <a:schemeClr val="tx1"/>
                </a:solidFill>
              </a:rPr>
              <a:t>, configurar el escenario de la </a:t>
            </a:r>
            <a:r>
              <a:rPr lang="es-ES" sz="1400" b="0" dirty="0" err="1" smtClean="0">
                <a:solidFill>
                  <a:schemeClr val="tx1"/>
                </a:solidFill>
              </a:rPr>
              <a:t>prof.</a:t>
            </a:r>
            <a:r>
              <a:rPr lang="es-ES" sz="1400" b="0" dirty="0" smtClean="0">
                <a:solidFill>
                  <a:schemeClr val="tx1"/>
                </a:solidFill>
              </a:rPr>
              <a:t> del tope de cemento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b="0" dirty="0" smtClean="0">
                <a:solidFill>
                  <a:schemeClr val="tx1"/>
                </a:solidFill>
              </a:rPr>
              <a:t>En la sección de </a:t>
            </a:r>
            <a:r>
              <a:rPr lang="es-ES" sz="1400" b="0" dirty="0" err="1" smtClean="0">
                <a:solidFill>
                  <a:schemeClr val="tx1"/>
                </a:solidFill>
              </a:rPr>
              <a:t>Volume</a:t>
            </a:r>
            <a:r>
              <a:rPr lang="es-ES" sz="1400" b="0" dirty="0" smtClean="0">
                <a:solidFill>
                  <a:schemeClr val="tx1"/>
                </a:solidFill>
              </a:rPr>
              <a:t> </a:t>
            </a:r>
            <a:r>
              <a:rPr lang="es-ES" sz="1400" b="0" dirty="0" err="1" smtClean="0">
                <a:solidFill>
                  <a:schemeClr val="tx1"/>
                </a:solidFill>
              </a:rPr>
              <a:t>Accounting</a:t>
            </a:r>
            <a:r>
              <a:rPr lang="es-ES" sz="1400" b="0" dirty="0" smtClean="0">
                <a:solidFill>
                  <a:schemeClr val="tx1"/>
                </a:solidFill>
              </a:rPr>
              <a:t> , colocar en </a:t>
            </a:r>
            <a:r>
              <a:rPr lang="es-ES" sz="1400" dirty="0" err="1" smtClean="0">
                <a:solidFill>
                  <a:srgbClr val="FF0000"/>
                </a:solidFill>
              </a:rPr>
              <a:t>Volume</a:t>
            </a:r>
            <a:r>
              <a:rPr lang="es-ES" sz="1400" dirty="0" smtClean="0">
                <a:solidFill>
                  <a:srgbClr val="FF0000"/>
                </a:solidFill>
              </a:rPr>
              <a:t> </a:t>
            </a:r>
            <a:r>
              <a:rPr lang="es-ES" sz="1400" dirty="0" err="1" smtClean="0">
                <a:solidFill>
                  <a:srgbClr val="FF0000"/>
                </a:solidFill>
              </a:rPr>
              <a:t>Not</a:t>
            </a:r>
            <a:r>
              <a:rPr lang="es-ES" sz="1400" dirty="0" smtClean="0">
                <a:solidFill>
                  <a:srgbClr val="FF0000"/>
                </a:solidFill>
              </a:rPr>
              <a:t> </a:t>
            </a:r>
            <a:r>
              <a:rPr lang="es-ES" sz="1400" dirty="0" err="1" smtClean="0">
                <a:solidFill>
                  <a:srgbClr val="FF0000"/>
                </a:solidFill>
              </a:rPr>
              <a:t>Fluids</a:t>
            </a:r>
            <a:r>
              <a:rPr lang="es-ES" sz="1400" dirty="0" smtClean="0">
                <a:solidFill>
                  <a:srgbClr val="FF0000"/>
                </a:solidFill>
              </a:rPr>
              <a:t> </a:t>
            </a:r>
            <a:r>
              <a:rPr lang="es-ES" sz="1400" b="0" dirty="0" smtClean="0">
                <a:solidFill>
                  <a:schemeClr val="tx1"/>
                </a:solidFill>
              </a:rPr>
              <a:t>, el vol. que se encuentra debajo de la profundidad del tapón de cemento, 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b="0" dirty="0" smtClean="0">
                <a:solidFill>
                  <a:schemeClr val="tx1"/>
                </a:solidFill>
              </a:rPr>
              <a:t>Realizar transacciones en Transfer/</a:t>
            </a:r>
            <a:r>
              <a:rPr lang="es-ES" sz="1400" b="0" dirty="0" err="1" smtClean="0">
                <a:solidFill>
                  <a:schemeClr val="tx1"/>
                </a:solidFill>
              </a:rPr>
              <a:t>Loss</a:t>
            </a:r>
            <a:r>
              <a:rPr lang="es-ES" sz="1400" b="0" dirty="0" smtClean="0">
                <a:solidFill>
                  <a:schemeClr val="tx1"/>
                </a:solidFill>
              </a:rPr>
              <a:t>, de todo el vol. Perdido después de realizado el tapón de cemento ( Ej. </a:t>
            </a:r>
            <a:r>
              <a:rPr lang="es-ES" sz="1400" b="0" dirty="0" err="1" smtClean="0">
                <a:solidFill>
                  <a:schemeClr val="tx1"/>
                </a:solidFill>
              </a:rPr>
              <a:t>Lef</a:t>
            </a:r>
            <a:r>
              <a:rPr lang="es-ES" sz="1400" b="0" dirty="0" smtClean="0">
                <a:solidFill>
                  <a:schemeClr val="tx1"/>
                </a:solidFill>
              </a:rPr>
              <a:t> in </a:t>
            </a:r>
            <a:r>
              <a:rPr lang="es-ES" sz="1400" b="0" dirty="0" err="1" smtClean="0">
                <a:solidFill>
                  <a:schemeClr val="tx1"/>
                </a:solidFill>
              </a:rPr>
              <a:t>Hole</a:t>
            </a:r>
            <a:r>
              <a:rPr lang="es-ES" sz="1400" b="0" dirty="0" smtClean="0">
                <a:solidFill>
                  <a:schemeClr val="tx1"/>
                </a:solidFill>
              </a:rPr>
              <a:t> – Lodo dejado entre </a:t>
            </a:r>
            <a:r>
              <a:rPr lang="es-ES" sz="1400" b="0" dirty="0" err="1" smtClean="0">
                <a:solidFill>
                  <a:schemeClr val="tx1"/>
                </a:solidFill>
              </a:rPr>
              <a:t>tapòn</a:t>
            </a:r>
            <a:r>
              <a:rPr lang="es-ES" sz="1400" b="0" dirty="0" smtClean="0">
                <a:solidFill>
                  <a:schemeClr val="tx1"/>
                </a:solidFill>
              </a:rPr>
              <a:t> y </a:t>
            </a:r>
            <a:r>
              <a:rPr lang="es-ES" sz="1400" b="0" dirty="0" err="1" smtClean="0">
                <a:solidFill>
                  <a:schemeClr val="tx1"/>
                </a:solidFill>
              </a:rPr>
              <a:t>tapòn</a:t>
            </a:r>
            <a:r>
              <a:rPr lang="es-ES" sz="1400" b="0" dirty="0" smtClean="0">
                <a:solidFill>
                  <a:schemeClr val="tx1"/>
                </a:solidFill>
              </a:rPr>
              <a:t> etc. 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400" b="0" dirty="0" smtClean="0">
                <a:solidFill>
                  <a:schemeClr val="tx1"/>
                </a:solidFill>
              </a:rPr>
              <a:t>En </a:t>
            </a:r>
            <a:r>
              <a:rPr lang="es-ES" sz="1400" b="0" dirty="0" err="1" smtClean="0">
                <a:solidFill>
                  <a:schemeClr val="tx1"/>
                </a:solidFill>
              </a:rPr>
              <a:t>Casing</a:t>
            </a:r>
            <a:r>
              <a:rPr lang="es-ES" sz="1400" b="0" dirty="0" smtClean="0">
                <a:solidFill>
                  <a:schemeClr val="tx1"/>
                </a:solidFill>
              </a:rPr>
              <a:t> </a:t>
            </a:r>
            <a:r>
              <a:rPr lang="es-ES" sz="1400" b="0" dirty="0" err="1" smtClean="0">
                <a:solidFill>
                  <a:schemeClr val="tx1"/>
                </a:solidFill>
              </a:rPr>
              <a:t>Interval</a:t>
            </a:r>
            <a:r>
              <a:rPr lang="es-ES" sz="1400" b="0" dirty="0" smtClean="0">
                <a:solidFill>
                  <a:schemeClr val="tx1"/>
                </a:solidFill>
              </a:rPr>
              <a:t> </a:t>
            </a:r>
            <a:r>
              <a:rPr lang="es-ES" sz="1400" b="0" dirty="0" err="1" smtClean="0">
                <a:solidFill>
                  <a:schemeClr val="tx1"/>
                </a:solidFill>
              </a:rPr>
              <a:t>Summary</a:t>
            </a:r>
            <a:r>
              <a:rPr lang="es-ES" sz="1400" b="0" dirty="0" smtClean="0">
                <a:solidFill>
                  <a:schemeClr val="tx1"/>
                </a:solidFill>
              </a:rPr>
              <a:t>, crear el intervalo para el </a:t>
            </a:r>
            <a:r>
              <a:rPr lang="es-ES" sz="1400" b="0" dirty="0" err="1" smtClean="0">
                <a:solidFill>
                  <a:schemeClr val="tx1"/>
                </a:solidFill>
              </a:rPr>
              <a:t>Side</a:t>
            </a:r>
            <a:r>
              <a:rPr lang="es-ES" sz="1400" b="0" dirty="0" smtClean="0">
                <a:solidFill>
                  <a:schemeClr val="tx1"/>
                </a:solidFill>
              </a:rPr>
              <a:t> </a:t>
            </a:r>
            <a:r>
              <a:rPr lang="es-ES" sz="1400" b="0" dirty="0" err="1" smtClean="0">
                <a:solidFill>
                  <a:schemeClr val="tx1"/>
                </a:solidFill>
              </a:rPr>
              <a:t>Track</a:t>
            </a:r>
            <a:endParaRPr lang="es-ES" sz="1400" b="0" dirty="0" smtClean="0">
              <a:solidFill>
                <a:schemeClr val="tx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1400" b="0" dirty="0" smtClean="0">
                <a:solidFill>
                  <a:schemeClr val="tx1"/>
                </a:solidFill>
              </a:rPr>
              <a:t>Pasar al siguiente día, y continuar perforando</a:t>
            </a:r>
            <a:endParaRPr lang="es-ES" sz="1400" b="0" dirty="0">
              <a:solidFill>
                <a:schemeClr val="tx1"/>
              </a:solidFill>
            </a:endParaRPr>
          </a:p>
          <a:p>
            <a:endParaRPr lang="es-ES" sz="1400" b="0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ES" sz="1400" b="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ES" sz="1400" b="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s-ES" sz="1400" b="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ES" sz="1400" b="0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ES_tradnl" sz="1400" b="0" dirty="0" smtClean="0">
              <a:solidFill>
                <a:schemeClr val="tx1"/>
              </a:solidFill>
            </a:endParaRPr>
          </a:p>
          <a:p>
            <a:endParaRPr lang="es-ES_tradnl" sz="1400" b="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56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81D3C-3386-4D4D-9574-EC3EA20772E5}" type="datetime1">
              <a:rPr lang="en-US" smtClean="0"/>
              <a:pPr/>
              <a:t>12/11/2013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Fijar Prof.  Tope Tapón de Cemento</a:t>
            </a:r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7777161" cy="392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143000" y="5181600"/>
            <a:ext cx="7010400" cy="6477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  <a:p>
            <a:pPr algn="just"/>
            <a:endParaRPr lang="es-ES_tradnl" sz="1400" dirty="0">
              <a:solidFill>
                <a:schemeClr val="tx1"/>
              </a:solidFill>
            </a:endParaRPr>
          </a:p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  <a:p>
            <a:pPr algn="just"/>
            <a:r>
              <a:rPr lang="es-ES_tradnl" sz="1400" b="1" u="sng" dirty="0" smtClean="0">
                <a:solidFill>
                  <a:schemeClr val="tx1"/>
                </a:solidFill>
              </a:rPr>
              <a:t>Bit </a:t>
            </a:r>
            <a:r>
              <a:rPr lang="es-ES_tradnl" sz="1400" b="1" u="sng" dirty="0" err="1" smtClean="0">
                <a:solidFill>
                  <a:schemeClr val="tx1"/>
                </a:solidFill>
              </a:rPr>
              <a:t>Depth</a:t>
            </a:r>
            <a:r>
              <a:rPr lang="es-ES_tradnl" sz="1400" dirty="0" smtClean="0">
                <a:solidFill>
                  <a:schemeClr val="tx1"/>
                </a:solidFill>
              </a:rPr>
              <a:t>:  En la sección de Bit </a:t>
            </a:r>
            <a:r>
              <a:rPr lang="es-ES_tradnl" sz="1400" dirty="0" err="1" smtClean="0">
                <a:solidFill>
                  <a:schemeClr val="tx1"/>
                </a:solidFill>
              </a:rPr>
              <a:t>Depth</a:t>
            </a:r>
            <a:r>
              <a:rPr lang="es-ES_tradnl" sz="1400" dirty="0" smtClean="0">
                <a:solidFill>
                  <a:schemeClr val="tx1"/>
                </a:solidFill>
              </a:rPr>
              <a:t>, se fija la profundidad donde se realizó el Tapón de cemento</a:t>
            </a:r>
          </a:p>
          <a:p>
            <a:pPr algn="just"/>
            <a:endParaRPr lang="es-ES_tradnl" sz="1400" dirty="0">
              <a:solidFill>
                <a:schemeClr val="tx1"/>
              </a:solidFill>
            </a:endParaRPr>
          </a:p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10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B34E-28E2-CE46-A628-35F3E95D743C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Diseño de </a:t>
            </a:r>
            <a:r>
              <a:rPr lang="es-ES_tradnl" dirty="0" err="1" smtClean="0"/>
              <a:t>Side</a:t>
            </a:r>
            <a:r>
              <a:rPr lang="es-ES_tradnl" dirty="0" smtClean="0"/>
              <a:t> </a:t>
            </a:r>
            <a:r>
              <a:rPr lang="es-ES_tradnl" dirty="0" err="1" smtClean="0"/>
              <a:t>Track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1"/>
            <a:ext cx="7010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5" y="1123951"/>
            <a:ext cx="18669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 flipH="1">
            <a:off x="4876800" y="1752600"/>
            <a:ext cx="22479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06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B34E-28E2-CE46-A628-35F3E95D743C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Sumario Intervalo de </a:t>
            </a:r>
            <a:r>
              <a:rPr lang="es-ES_tradnl" dirty="0" err="1" smtClean="0"/>
              <a:t>Casing</a:t>
            </a:r>
            <a:r>
              <a:rPr lang="es-ES_tradnl" dirty="0" smtClean="0"/>
              <a:t>-  </a:t>
            </a:r>
            <a:r>
              <a:rPr lang="es-ES_tradnl" dirty="0" err="1" smtClean="0"/>
              <a:t>Side</a:t>
            </a:r>
            <a:r>
              <a:rPr lang="es-ES_tradnl" dirty="0" smtClean="0"/>
              <a:t> </a:t>
            </a:r>
            <a:r>
              <a:rPr lang="es-ES_tradnl" dirty="0" err="1" smtClean="0"/>
              <a:t>Track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8686800" cy="49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80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B34E-28E2-CE46-A628-35F3E95D743C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Confidential Information  © 2010 M-I SWACO 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5257800" cy="758825"/>
          </a:xfrm>
        </p:spPr>
        <p:txBody>
          <a:bodyPr/>
          <a:lstStyle/>
          <a:p>
            <a:r>
              <a:rPr lang="es-ES_tradnl" dirty="0" smtClean="0"/>
              <a:t>Sección de Volúmenes</a:t>
            </a:r>
            <a:endParaRPr 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8153400" cy="5247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4114800" y="3690789"/>
            <a:ext cx="4343400" cy="1643211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  <a:p>
            <a:pPr algn="just"/>
            <a:endParaRPr lang="es-ES_tradnl" sz="1400" dirty="0">
              <a:solidFill>
                <a:schemeClr val="tx1"/>
              </a:solidFill>
            </a:endParaRPr>
          </a:p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  <a:p>
            <a:pPr algn="just"/>
            <a:r>
              <a:rPr lang="es-ES_tradnl" sz="1400" b="1" u="sng" dirty="0" err="1" smtClean="0">
                <a:solidFill>
                  <a:schemeClr val="tx1"/>
                </a:solidFill>
              </a:rPr>
              <a:t>Volume</a:t>
            </a:r>
            <a:r>
              <a:rPr lang="es-ES_tradnl" sz="1400" b="1" u="sng" dirty="0" smtClean="0">
                <a:solidFill>
                  <a:schemeClr val="tx1"/>
                </a:solidFill>
              </a:rPr>
              <a:t> </a:t>
            </a:r>
            <a:r>
              <a:rPr lang="es-ES_tradnl" sz="1400" b="1" u="sng" dirty="0" err="1" smtClean="0">
                <a:solidFill>
                  <a:schemeClr val="tx1"/>
                </a:solidFill>
              </a:rPr>
              <a:t>Not</a:t>
            </a:r>
            <a:r>
              <a:rPr lang="es-ES_tradnl" sz="1400" b="1" u="sng" dirty="0" smtClean="0">
                <a:solidFill>
                  <a:schemeClr val="tx1"/>
                </a:solidFill>
              </a:rPr>
              <a:t> </a:t>
            </a:r>
            <a:r>
              <a:rPr lang="es-ES_tradnl" sz="1400" b="1" u="sng" dirty="0" err="1" smtClean="0">
                <a:solidFill>
                  <a:schemeClr val="tx1"/>
                </a:solidFill>
              </a:rPr>
              <a:t>Fluids</a:t>
            </a:r>
            <a:r>
              <a:rPr lang="es-ES_tradnl" sz="1400" dirty="0" smtClean="0">
                <a:solidFill>
                  <a:schemeClr val="tx1"/>
                </a:solidFill>
              </a:rPr>
              <a:t>: En esta sección se asignará el Vol. dejado debajo del Tapón de cemento ( Ej. 24.1 m3 )</a:t>
            </a:r>
          </a:p>
          <a:p>
            <a:pPr algn="just"/>
            <a:endParaRPr lang="es-ES_tradnl" sz="1400" dirty="0">
              <a:solidFill>
                <a:schemeClr val="tx1"/>
              </a:solidFill>
            </a:endParaRPr>
          </a:p>
          <a:p>
            <a:pPr algn="just"/>
            <a:r>
              <a:rPr lang="es-ES_tradnl" sz="1400" dirty="0" smtClean="0">
                <a:solidFill>
                  <a:schemeClr val="tx1"/>
                </a:solidFill>
              </a:rPr>
              <a:t>Posteriormente efectuar una Transacción de Perdida ( Transfer/</a:t>
            </a:r>
            <a:r>
              <a:rPr lang="es-ES_tradnl" sz="1400" dirty="0" err="1" smtClean="0">
                <a:solidFill>
                  <a:schemeClr val="tx1"/>
                </a:solidFill>
              </a:rPr>
              <a:t>Loss</a:t>
            </a:r>
            <a:r>
              <a:rPr lang="es-ES_tradnl" sz="1400" dirty="0" smtClean="0">
                <a:solidFill>
                  <a:schemeClr val="tx1"/>
                </a:solidFill>
              </a:rPr>
              <a:t> ), por el Vol. Perdido “ </a:t>
            </a:r>
            <a:r>
              <a:rPr lang="es-ES_tradnl" sz="1400" dirty="0" err="1" smtClean="0">
                <a:solidFill>
                  <a:schemeClr val="tx1"/>
                </a:solidFill>
              </a:rPr>
              <a:t>Lef</a:t>
            </a:r>
            <a:r>
              <a:rPr lang="es-ES_tradnl" sz="1400" dirty="0" smtClean="0">
                <a:solidFill>
                  <a:schemeClr val="tx1"/>
                </a:solidFill>
              </a:rPr>
              <a:t> in </a:t>
            </a:r>
            <a:r>
              <a:rPr lang="es-ES_tradnl" sz="1400" dirty="0" err="1" smtClean="0">
                <a:solidFill>
                  <a:schemeClr val="tx1"/>
                </a:solidFill>
              </a:rPr>
              <a:t>Hole</a:t>
            </a:r>
            <a:r>
              <a:rPr lang="es-ES_tradnl" sz="1400" dirty="0" smtClean="0">
                <a:solidFill>
                  <a:schemeClr val="tx1"/>
                </a:solidFill>
              </a:rPr>
              <a:t> o Dejado en Pozo “ Ej. 24.1 m3 ) </a:t>
            </a:r>
            <a:endParaRPr lang="es-ES_tradnl" sz="1400" dirty="0">
              <a:solidFill>
                <a:schemeClr val="tx1"/>
              </a:solidFill>
            </a:endParaRPr>
          </a:p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  <a:p>
            <a:pPr algn="just"/>
            <a:endParaRPr lang="es-ES_tradnl" sz="1400" dirty="0">
              <a:solidFill>
                <a:schemeClr val="tx1"/>
              </a:solidFill>
            </a:endParaRPr>
          </a:p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  <a:p>
            <a:pPr algn="just"/>
            <a:endParaRPr lang="es-ES_tradnl" sz="1400" dirty="0" smtClean="0">
              <a:solidFill>
                <a:schemeClr val="tx1"/>
              </a:solidFill>
            </a:endParaRP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57200"/>
            <a:ext cx="302895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47650"/>
            <a:ext cx="20288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90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B34E-28E2-CE46-A628-35F3E95D743C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Siguiente Día – Perforación después de KOP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" y="1600200"/>
            <a:ext cx="82010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98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B34E-28E2-CE46-A628-35F3E95D743C}" type="datetime1">
              <a:rPr lang="en-US" smtClean="0">
                <a:solidFill>
                  <a:prstClr val="black"/>
                </a:solidFill>
              </a:rPr>
              <a:pPr/>
              <a:t>12/11/2013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Confidential Information  © 2010 M-I SWACO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E8D5-C2E3-A14D-97AF-524B2C713D1A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1"/>
            <a:ext cx="2790825" cy="571500"/>
          </a:xfrm>
        </p:spPr>
        <p:txBody>
          <a:bodyPr/>
          <a:lstStyle/>
          <a:p>
            <a:r>
              <a:rPr lang="es-ES_tradnl" dirty="0" smtClean="0"/>
              <a:t>Diseño </a:t>
            </a:r>
            <a:r>
              <a:rPr lang="es-ES_tradnl" dirty="0" err="1" smtClean="0"/>
              <a:t>Side</a:t>
            </a:r>
            <a:r>
              <a:rPr lang="es-ES_tradnl" dirty="0" smtClean="0"/>
              <a:t> </a:t>
            </a:r>
            <a:r>
              <a:rPr lang="es-ES_tradnl" dirty="0" err="1" smtClean="0"/>
              <a:t>Track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23900"/>
            <a:ext cx="31718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4425"/>
            <a:ext cx="43815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19431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685800"/>
            <a:ext cx="30289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085850"/>
            <a:ext cx="43434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2114550"/>
            <a:ext cx="1729168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4495800" y="1066800"/>
            <a:ext cx="76200" cy="5105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4"/>
          <p:cNvSpPr txBox="1">
            <a:spLocks/>
          </p:cNvSpPr>
          <p:nvPr/>
        </p:nvSpPr>
        <p:spPr>
          <a:xfrm>
            <a:off x="4800600" y="114300"/>
            <a:ext cx="3962400" cy="571500"/>
          </a:xfrm>
          <a:prstGeom prst="rect">
            <a:avLst/>
          </a:prstGeom>
        </p:spPr>
        <p:txBody>
          <a:bodyPr anchor="ctr" anchorCtr="0"/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2800" b="1" i="0" kern="1200">
                <a:solidFill>
                  <a:srgbClr val="E35F0B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r>
              <a:rPr lang="es-ES_tradnl" dirty="0" err="1" smtClean="0"/>
              <a:t>Perforacion</a:t>
            </a:r>
            <a:r>
              <a:rPr lang="es-ES_tradnl" dirty="0" smtClean="0"/>
              <a:t> </a:t>
            </a:r>
            <a:r>
              <a:rPr lang="es-ES_tradnl" dirty="0" err="1" smtClean="0"/>
              <a:t>despues</a:t>
            </a:r>
            <a:r>
              <a:rPr lang="es-ES_tradnl" dirty="0" smtClean="0"/>
              <a:t> KOP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39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Blank">
  <a:themeElements>
    <a:clrScheme name="Blank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Blank">
      <a:majorFont>
        <a:latin typeface="Tahoma"/>
        <a:ea typeface=""/>
        <a:cs typeface=""/>
      </a:majorFont>
      <a:minorFont>
        <a:latin typeface="Palatino Linoty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I-SLB PowerPoint Slide Master - with Background Images">
  <a:themeElements>
    <a:clrScheme name="M-I SWACO Colors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873B9"/>
      </a:accent1>
      <a:accent2>
        <a:srgbClr val="A4A4A4"/>
      </a:accent2>
      <a:accent3>
        <a:srgbClr val="7EA24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-I SWACO Fonts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299</Words>
  <Application>Microsoft Office PowerPoint</Application>
  <PresentationFormat>On-screen Show (4:3)</PresentationFormat>
  <Paragraphs>68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1_Blank</vt:lpstr>
      <vt:lpstr>MI-SLB PowerPoint Slide Master - with Background Images</vt:lpstr>
      <vt:lpstr>PowerPoint Presentation</vt:lpstr>
      <vt:lpstr>Instrucciones Side Track</vt:lpstr>
      <vt:lpstr>Fijar Prof.  Tope Tapón de Cemento</vt:lpstr>
      <vt:lpstr>Diseño de Side Track</vt:lpstr>
      <vt:lpstr>Sumario Intervalo de Casing-  Side Track</vt:lpstr>
      <vt:lpstr>Sección de Volúmenes</vt:lpstr>
      <vt:lpstr>Siguiente Día – Perforación después de KOP</vt:lpstr>
      <vt:lpstr>Diseño Side Track</vt:lpstr>
    </vt:vector>
  </TitlesOfParts>
  <Company>Schlumberger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CFigueroa01</dc:creator>
  <cp:lastModifiedBy>M-I SWACO</cp:lastModifiedBy>
  <cp:revision>35</cp:revision>
  <cp:lastPrinted>2013-10-08T19:07:16Z</cp:lastPrinted>
  <dcterms:created xsi:type="dcterms:W3CDTF">2013-04-03T14:20:05Z</dcterms:created>
  <dcterms:modified xsi:type="dcterms:W3CDTF">2013-12-11T05:17:38Z</dcterms:modified>
</cp:coreProperties>
</file>