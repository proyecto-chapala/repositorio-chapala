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embeddedFontLst>
    <p:embeddedFont>
      <p:font typeface="Arial Narrow" panose="020B0606020202030204" pitchFamily="3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Buen día Sres INGENIEROS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Desafio: Mejorar la calidad de nuestro servicio a través de documentar nuestra experiencia.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Fortaleza: Un trabajo eficiente en equipo, en esta oportunidad como un equipo el Ingenieros de campo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El aporte y la cooperacion de cada uno de ustedes no solo es vital para cada uno sino también es vital la compañía la cual esta compuesta por nosotros.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1. La amenaza para un equipo como el nuestro es trabajar cada uno por nuestro lado.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2. Trabajar por separado no es un trabajo de equipo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3. Insistir en que podemos salir adelante por nosotros mismos no ayuda a trabajar en equipo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4. Esta forma de trabajo  seguramente solo encontraremos frustración y desaliento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5. Si todos trabajamos planificando, buscando el consenso en sentido y cooperación mutua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6. Así podremos llenar nuestras expectativas trabajando eficientemente en equipo.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Por lo tanto herramientas tan útiles como el ONE TRAX, nos permiten ser eficientes y distinguirnos de nuestra competencia.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 txBox="1">
            <a:spLocks noGrp="1"/>
          </p:cNvSpPr>
          <p:nvPr>
            <p:ph type="title"/>
          </p:nvPr>
        </p:nvSpPr>
        <p:spPr>
          <a:xfrm>
            <a:off x="722313" y="1981201"/>
            <a:ext cx="77724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E35F0B"/>
              </a:buClr>
              <a:buSzPts val="3600"/>
              <a:buFont typeface="Arial Narrow"/>
              <a:buNone/>
              <a:defRPr sz="3600" b="1" i="0" u="none" strike="noStrike" cap="none">
                <a:solidFill>
                  <a:srgbClr val="E35F0B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body" idx="1"/>
          </p:nvPr>
        </p:nvSpPr>
        <p:spPr>
          <a:xfrm>
            <a:off x="722313" y="3352801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body" idx="2"/>
          </p:nvPr>
        </p:nvSpPr>
        <p:spPr>
          <a:xfrm>
            <a:off x="722313" y="3962400"/>
            <a:ext cx="777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py Slide - 2 Column">
  <p:cSld name="Copy Slide - 2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E35F0B"/>
              </a:buClr>
              <a:buSzPts val="2800"/>
              <a:buFont typeface="Arial Narrow"/>
              <a:buNone/>
              <a:defRPr sz="2800" b="1" i="0" u="none" strike="noStrike" cap="none">
                <a:solidFill>
                  <a:srgbClr val="E35F0B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E35F0B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E35F0B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cxnSp>
        <p:nvCxnSpPr>
          <p:cNvPr id="27" name="Google Shape;27;p3"/>
          <p:cNvCxnSpPr/>
          <p:nvPr/>
        </p:nvCxnSpPr>
        <p:spPr>
          <a:xfrm>
            <a:off x="0" y="1033463"/>
            <a:ext cx="8915400" cy="15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28;p3"/>
          <p:cNvSpPr txBox="1">
            <a:spLocks noGrp="1"/>
          </p:cNvSpPr>
          <p:nvPr>
            <p:ph type="body" idx="2"/>
          </p:nvPr>
        </p:nvSpPr>
        <p:spPr>
          <a:xfrm>
            <a:off x="457200" y="1828800"/>
            <a:ext cx="3886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marR="0" lvl="0" indent="-330200" algn="l" rtl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E35F0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228600" algn="l" rtl="0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228600" algn="l" rtl="0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228600" algn="l" rtl="0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228600" algn="l" rtl="0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55600" algn="l" rtl="0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body" idx="3"/>
          </p:nvPr>
        </p:nvSpPr>
        <p:spPr>
          <a:xfrm>
            <a:off x="4724400" y="1828800"/>
            <a:ext cx="396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marR="0" lvl="0" indent="-330200" algn="l" rtl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E35F0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30200" algn="l" rtl="0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rgbClr val="E35F0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30200" algn="l" rtl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E35F0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30200" algn="l" rtl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E35F0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30200" algn="l" rtl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E35F0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cxnSp>
        <p:nvCxnSpPr>
          <p:cNvPr id="30" name="Google Shape;30;p3"/>
          <p:cNvCxnSpPr/>
          <p:nvPr/>
        </p:nvCxnSpPr>
        <p:spPr>
          <a:xfrm>
            <a:off x="0" y="1033463"/>
            <a:ext cx="8915400" cy="15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py Slide - 1 Column">
  <p:cSld name="Copy Slide - 1 Colum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Google Shape;32;p4"/>
          <p:cNvCxnSpPr/>
          <p:nvPr/>
        </p:nvCxnSpPr>
        <p:spPr>
          <a:xfrm>
            <a:off x="0" y="1033463"/>
            <a:ext cx="8915400" cy="15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" name="Google Shape;33;p4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E35F0B"/>
              </a:buClr>
              <a:buSzPts val="2800"/>
              <a:buFont typeface="Arial Narrow"/>
              <a:buNone/>
              <a:defRPr sz="2800" b="1" i="0" u="none" strike="noStrike" cap="none">
                <a:solidFill>
                  <a:srgbClr val="E35F0B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body" idx="1"/>
          </p:nvPr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marR="0" lvl="0" indent="-330200" algn="l" rtl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E35F0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17500" algn="l" rtl="0">
              <a:lnSpc>
                <a:spcPct val="114285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body" idx="2"/>
          </p:nvPr>
        </p:nvSpPr>
        <p:spPr>
          <a:xfrm>
            <a:off x="457200" y="121920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E35F0B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E35F0B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3"/>
          </p:nvPr>
        </p:nvSpPr>
        <p:spPr>
          <a:xfrm>
            <a:off x="685800" y="3810000"/>
            <a:ext cx="80010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marR="0" lvl="0" indent="-317500" algn="l" rtl="0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17500" algn="l" rtl="0">
              <a:lnSpc>
                <a:spcPct val="114285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cxnSp>
        <p:nvCxnSpPr>
          <p:cNvPr id="37" name="Google Shape;37;p4"/>
          <p:cNvCxnSpPr/>
          <p:nvPr/>
        </p:nvCxnSpPr>
        <p:spPr>
          <a:xfrm>
            <a:off x="0" y="1033463"/>
            <a:ext cx="8915400" cy="15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graph Slide">
  <p:cSld name="Photograph Slide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>
            <a:spLocks noGrp="1"/>
          </p:cNvSpPr>
          <p:nvPr>
            <p:ph type="pic" idx="2"/>
          </p:nvPr>
        </p:nvSpPr>
        <p:spPr>
          <a:xfrm>
            <a:off x="0" y="0"/>
            <a:ext cx="8915400" cy="5943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graph Slide - small">
  <p:cSld name="Photograph Slide - small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E35F0B"/>
              </a:buClr>
              <a:buSzPts val="2800"/>
              <a:buFont typeface="Arial Narrow"/>
              <a:buNone/>
              <a:defRPr sz="2800" b="1" i="0" u="none" strike="noStrike" cap="none">
                <a:solidFill>
                  <a:srgbClr val="E35F0B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42" name="Google Shape;42;p6"/>
          <p:cNvCxnSpPr/>
          <p:nvPr/>
        </p:nvCxnSpPr>
        <p:spPr>
          <a:xfrm>
            <a:off x="0" y="1033463"/>
            <a:ext cx="8915400" cy="15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" name="Google Shape;43;p6"/>
          <p:cNvSpPr>
            <a:spLocks noGrp="1"/>
          </p:cNvSpPr>
          <p:nvPr>
            <p:ph type="pic" idx="2"/>
          </p:nvPr>
        </p:nvSpPr>
        <p:spPr>
          <a:xfrm>
            <a:off x="457200" y="1371600"/>
            <a:ext cx="8223250" cy="45720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4" name="Google Shape;44;p6"/>
          <p:cNvCxnSpPr/>
          <p:nvPr/>
        </p:nvCxnSpPr>
        <p:spPr>
          <a:xfrm>
            <a:off x="0" y="1033463"/>
            <a:ext cx="8915400" cy="15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r Graph Slide">
  <p:cSld name="Bar Graph Slide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E35F0B"/>
              </a:buClr>
              <a:buSzPts val="2800"/>
              <a:buFont typeface="Arial Narrow"/>
              <a:buNone/>
              <a:defRPr sz="2800" b="1" i="0" u="none" strike="noStrike" cap="none">
                <a:solidFill>
                  <a:srgbClr val="E35F0B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47" name="Google Shape;47;p7"/>
          <p:cNvCxnSpPr/>
          <p:nvPr/>
        </p:nvCxnSpPr>
        <p:spPr>
          <a:xfrm>
            <a:off x="0" y="1033463"/>
            <a:ext cx="8915400" cy="15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7"/>
          <p:cNvSpPr>
            <a:spLocks noGrp="1"/>
          </p:cNvSpPr>
          <p:nvPr>
            <p:ph type="chart" idx="2"/>
          </p:nvPr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cxnSp>
        <p:nvCxnSpPr>
          <p:cNvPr id="49" name="Google Shape;49;p7"/>
          <p:cNvCxnSpPr/>
          <p:nvPr/>
        </p:nvCxnSpPr>
        <p:spPr>
          <a:xfrm>
            <a:off x="0" y="1033463"/>
            <a:ext cx="8915400" cy="15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 Slide">
  <p:cSld name="Chart Slide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E35F0B"/>
              </a:buClr>
              <a:buSzPts val="2800"/>
              <a:buFont typeface="Arial Narrow"/>
              <a:buNone/>
              <a:defRPr sz="2800" b="1" i="0" u="none" strike="noStrike" cap="none">
                <a:solidFill>
                  <a:srgbClr val="E35F0B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52" name="Google Shape;52;p8"/>
          <p:cNvCxnSpPr/>
          <p:nvPr/>
        </p:nvCxnSpPr>
        <p:spPr>
          <a:xfrm>
            <a:off x="0" y="1033463"/>
            <a:ext cx="8915400" cy="15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" name="Google Shape;53;p8"/>
          <p:cNvSpPr>
            <a:spLocks noGrp="1"/>
          </p:cNvSpPr>
          <p:nvPr>
            <p:ph type="tbl" idx="2"/>
          </p:nvPr>
        </p:nvSpPr>
        <p:spPr>
          <a:xfrm>
            <a:off x="457200" y="1371600"/>
            <a:ext cx="82296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cxnSp>
        <p:nvCxnSpPr>
          <p:cNvPr id="54" name="Google Shape;54;p8"/>
          <p:cNvCxnSpPr/>
          <p:nvPr/>
        </p:nvCxnSpPr>
        <p:spPr>
          <a:xfrm>
            <a:off x="0" y="1033463"/>
            <a:ext cx="8915400" cy="15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graph and Copy Slide">
  <p:cSld name="Photograph and Copy Slide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E35F0B"/>
              </a:buClr>
              <a:buSzPts val="2800"/>
              <a:buFont typeface="Arial Narrow"/>
              <a:buNone/>
              <a:defRPr sz="2800" b="1" i="0" u="none" strike="noStrike" cap="none">
                <a:solidFill>
                  <a:srgbClr val="E35F0B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E35F0B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E35F0B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cxnSp>
        <p:nvCxnSpPr>
          <p:cNvPr id="58" name="Google Shape;58;p9"/>
          <p:cNvCxnSpPr/>
          <p:nvPr/>
        </p:nvCxnSpPr>
        <p:spPr>
          <a:xfrm>
            <a:off x="0" y="1033463"/>
            <a:ext cx="8915400" cy="15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9" name="Google Shape;59;p9"/>
          <p:cNvSpPr>
            <a:spLocks noGrp="1"/>
          </p:cNvSpPr>
          <p:nvPr>
            <p:ph type="pic" idx="2"/>
          </p:nvPr>
        </p:nvSpPr>
        <p:spPr>
          <a:xfrm>
            <a:off x="457200" y="1828800"/>
            <a:ext cx="3886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9"/>
          <p:cNvSpPr txBox="1">
            <a:spLocks noGrp="1"/>
          </p:cNvSpPr>
          <p:nvPr>
            <p:ph type="body" idx="3"/>
          </p:nvPr>
        </p:nvSpPr>
        <p:spPr>
          <a:xfrm>
            <a:off x="4724400" y="1828800"/>
            <a:ext cx="396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marR="0" lvl="0" indent="-330200" algn="l" rtl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E35F0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30200" algn="l" rtl="0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rgbClr val="E35F0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30200" algn="l" rtl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E35F0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30200" algn="l" rtl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E35F0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30200" algn="l" rtl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E35F0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0" y="1033463"/>
            <a:ext cx="8915400" cy="15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 and Copy Slide">
  <p:cSld name="Chart and Copy Slid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E35F0B"/>
              </a:buClr>
              <a:buSzPts val="2800"/>
              <a:buFont typeface="Arial Narrow"/>
              <a:buNone/>
              <a:defRPr sz="2800" b="1" i="0" u="none" strike="noStrike" cap="none">
                <a:solidFill>
                  <a:srgbClr val="E35F0B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E35F0B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E35F0B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cxnSp>
        <p:nvCxnSpPr>
          <p:cNvPr id="65" name="Google Shape;65;p10"/>
          <p:cNvCxnSpPr/>
          <p:nvPr/>
        </p:nvCxnSpPr>
        <p:spPr>
          <a:xfrm>
            <a:off x="0" y="1033463"/>
            <a:ext cx="8915400" cy="15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6" name="Google Shape;66;p10"/>
          <p:cNvSpPr>
            <a:spLocks noGrp="1"/>
          </p:cNvSpPr>
          <p:nvPr>
            <p:ph type="tbl" idx="2"/>
          </p:nvPr>
        </p:nvSpPr>
        <p:spPr>
          <a:xfrm>
            <a:off x="457200" y="1828800"/>
            <a:ext cx="396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3"/>
          </p:nvPr>
        </p:nvSpPr>
        <p:spPr>
          <a:xfrm>
            <a:off x="4724400" y="1828800"/>
            <a:ext cx="396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marR="0" lvl="0" indent="-330200" algn="l" rtl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E35F0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30200" algn="l" rtl="0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rgbClr val="E35F0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30200" algn="l" rtl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E35F0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30200" algn="l" rtl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E35F0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30200" algn="l" rtl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E35F0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cxnSp>
        <p:nvCxnSpPr>
          <p:cNvPr id="68" name="Google Shape;68;p10"/>
          <p:cNvCxnSpPr/>
          <p:nvPr/>
        </p:nvCxnSpPr>
        <p:spPr>
          <a:xfrm>
            <a:off x="0" y="1033463"/>
            <a:ext cx="8915400" cy="15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Photograph Slide">
  <p:cSld name="2 Photograph Slid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E35F0B"/>
              </a:buClr>
              <a:buSzPts val="2800"/>
              <a:buFont typeface="Arial Narrow"/>
              <a:buNone/>
              <a:defRPr sz="2800" b="1" i="0" u="none" strike="noStrike" cap="none">
                <a:solidFill>
                  <a:srgbClr val="E35F0B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E35F0B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E35F0B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cxnSp>
        <p:nvCxnSpPr>
          <p:cNvPr id="72" name="Google Shape;72;p11"/>
          <p:cNvCxnSpPr/>
          <p:nvPr/>
        </p:nvCxnSpPr>
        <p:spPr>
          <a:xfrm>
            <a:off x="0" y="1033463"/>
            <a:ext cx="8915400" cy="15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3" name="Google Shape;73;p11"/>
          <p:cNvSpPr>
            <a:spLocks noGrp="1"/>
          </p:cNvSpPr>
          <p:nvPr>
            <p:ph type="pic" idx="2"/>
          </p:nvPr>
        </p:nvSpPr>
        <p:spPr>
          <a:xfrm>
            <a:off x="457200" y="1828800"/>
            <a:ext cx="3886200" cy="28194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1"/>
          <p:cNvSpPr txBox="1">
            <a:spLocks noGrp="1"/>
          </p:cNvSpPr>
          <p:nvPr>
            <p:ph type="body" idx="3"/>
          </p:nvPr>
        </p:nvSpPr>
        <p:spPr>
          <a:xfrm>
            <a:off x="457200" y="4876800"/>
            <a:ext cx="38862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>
            <a:spLocks noGrp="1"/>
          </p:cNvSpPr>
          <p:nvPr>
            <p:ph type="pic" idx="4"/>
          </p:nvPr>
        </p:nvSpPr>
        <p:spPr>
          <a:xfrm>
            <a:off x="4648200" y="1828800"/>
            <a:ext cx="3886200" cy="28194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1"/>
          <p:cNvSpPr txBox="1">
            <a:spLocks noGrp="1"/>
          </p:cNvSpPr>
          <p:nvPr>
            <p:ph type="body" idx="5"/>
          </p:nvPr>
        </p:nvSpPr>
        <p:spPr>
          <a:xfrm>
            <a:off x="4648200" y="4876800"/>
            <a:ext cx="38862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0" y="1033463"/>
            <a:ext cx="8915400" cy="15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>
            <a:off x="719138" y="1187450"/>
            <a:ext cx="7691437" cy="896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E35F0B"/>
              </a:buClr>
              <a:buSzPts val="2800"/>
              <a:buFont typeface="Arial Narrow"/>
              <a:buNone/>
              <a:defRPr sz="2800" b="1" i="0" u="none" strike="noStrike" cap="none">
                <a:solidFill>
                  <a:srgbClr val="E35F0B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81" name="Google Shape;81;p12"/>
          <p:cNvCxnSpPr/>
          <p:nvPr/>
        </p:nvCxnSpPr>
        <p:spPr>
          <a:xfrm>
            <a:off x="0" y="1033463"/>
            <a:ext cx="8915400" cy="15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2" name="Google Shape;82;p12"/>
          <p:cNvCxnSpPr/>
          <p:nvPr/>
        </p:nvCxnSpPr>
        <p:spPr>
          <a:xfrm>
            <a:off x="0" y="1033463"/>
            <a:ext cx="8915400" cy="15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Graphic Slide">
  <p:cSld name="2 Graphic Slide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E35F0B"/>
              </a:buClr>
              <a:buSzPts val="2800"/>
              <a:buFont typeface="Arial Narrow"/>
              <a:buNone/>
              <a:defRPr sz="2800" b="1" i="0" u="none" strike="noStrike" cap="none">
                <a:solidFill>
                  <a:srgbClr val="E35F0B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E35F0B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E35F0B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cxnSp>
        <p:nvCxnSpPr>
          <p:cNvPr id="86" name="Google Shape;86;p13"/>
          <p:cNvCxnSpPr/>
          <p:nvPr/>
        </p:nvCxnSpPr>
        <p:spPr>
          <a:xfrm>
            <a:off x="0" y="1033463"/>
            <a:ext cx="8915400" cy="15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" name="Google Shape;87;p13"/>
          <p:cNvSpPr>
            <a:spLocks noGrp="1"/>
          </p:cNvSpPr>
          <p:nvPr>
            <p:ph type="pic" idx="2"/>
          </p:nvPr>
        </p:nvSpPr>
        <p:spPr>
          <a:xfrm>
            <a:off x="457200" y="1828800"/>
            <a:ext cx="3886200" cy="28194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3"/>
          <p:cNvSpPr txBox="1">
            <a:spLocks noGrp="1"/>
          </p:cNvSpPr>
          <p:nvPr>
            <p:ph type="body" idx="3"/>
          </p:nvPr>
        </p:nvSpPr>
        <p:spPr>
          <a:xfrm>
            <a:off x="457200" y="4876800"/>
            <a:ext cx="38862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marL="457200" marR="0" lvl="0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>
            <a:spLocks noGrp="1"/>
          </p:cNvSpPr>
          <p:nvPr>
            <p:ph type="tbl" idx="4"/>
          </p:nvPr>
        </p:nvSpPr>
        <p:spPr>
          <a:xfrm>
            <a:off x="4648200" y="1828800"/>
            <a:ext cx="3886200" cy="28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cxnSp>
        <p:nvCxnSpPr>
          <p:cNvPr id="90" name="Google Shape;90;p13"/>
          <p:cNvCxnSpPr/>
          <p:nvPr/>
        </p:nvCxnSpPr>
        <p:spPr>
          <a:xfrm>
            <a:off x="0" y="1033463"/>
            <a:ext cx="8915400" cy="15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rganizational Chart">
  <p:cSld name="Organizational Char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E35F0B"/>
              </a:buClr>
              <a:buSzPts val="2800"/>
              <a:buFont typeface="Arial Narrow"/>
              <a:buNone/>
              <a:defRPr sz="2800" b="1" i="0" u="none" strike="noStrike" cap="none">
                <a:solidFill>
                  <a:srgbClr val="E35F0B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93" name="Google Shape;93;p14"/>
          <p:cNvCxnSpPr/>
          <p:nvPr/>
        </p:nvCxnSpPr>
        <p:spPr>
          <a:xfrm>
            <a:off x="0" y="1033463"/>
            <a:ext cx="8915400" cy="15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4" name="Google Shape;94;p14"/>
          <p:cNvSpPr>
            <a:spLocks noGrp="1"/>
          </p:cNvSpPr>
          <p:nvPr>
            <p:ph type="dgm" idx="2"/>
          </p:nvPr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cxnSp>
        <p:nvCxnSpPr>
          <p:cNvPr id="95" name="Google Shape;95;p14"/>
          <p:cNvCxnSpPr/>
          <p:nvPr/>
        </p:nvCxnSpPr>
        <p:spPr>
          <a:xfrm>
            <a:off x="0" y="1033463"/>
            <a:ext cx="8915400" cy="15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719138" y="1187450"/>
            <a:ext cx="3768725" cy="896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body" idx="2"/>
          </p:nvPr>
        </p:nvSpPr>
        <p:spPr>
          <a:xfrm>
            <a:off x="4640263" y="1187450"/>
            <a:ext cx="3770312" cy="896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E35F0B"/>
              </a:buClr>
              <a:buSzPts val="2800"/>
              <a:buFont typeface="Arial Narrow"/>
              <a:buNone/>
              <a:defRPr sz="2800" b="1" i="0" u="none" strike="noStrike" cap="none">
                <a:solidFill>
                  <a:srgbClr val="E35F0B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100" name="Google Shape;100;p15"/>
          <p:cNvCxnSpPr/>
          <p:nvPr/>
        </p:nvCxnSpPr>
        <p:spPr>
          <a:xfrm>
            <a:off x="0" y="1033463"/>
            <a:ext cx="8915400" cy="15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1" name="Google Shape;101;p15"/>
          <p:cNvCxnSpPr/>
          <p:nvPr/>
        </p:nvCxnSpPr>
        <p:spPr>
          <a:xfrm>
            <a:off x="0" y="1033463"/>
            <a:ext cx="8915400" cy="15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body" idx="1"/>
          </p:nvPr>
        </p:nvSpPr>
        <p:spPr>
          <a:xfrm>
            <a:off x="3575050" y="1219200"/>
            <a:ext cx="5111750" cy="4906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2"/>
          </p:nvPr>
        </p:nvSpPr>
        <p:spPr>
          <a:xfrm>
            <a:off x="457200" y="1219200"/>
            <a:ext cx="3008313" cy="4906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E35F0B"/>
              </a:buClr>
              <a:buSzPts val="2800"/>
              <a:buFont typeface="Arial Narrow"/>
              <a:buNone/>
              <a:defRPr sz="2800" b="1" i="0" u="none" strike="noStrike" cap="none">
                <a:solidFill>
                  <a:srgbClr val="E35F0B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106" name="Google Shape;106;p16"/>
          <p:cNvCxnSpPr/>
          <p:nvPr/>
        </p:nvCxnSpPr>
        <p:spPr>
          <a:xfrm>
            <a:off x="0" y="1033463"/>
            <a:ext cx="8915400" cy="15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7" name="Google Shape;107;p16"/>
          <p:cNvCxnSpPr/>
          <p:nvPr/>
        </p:nvCxnSpPr>
        <p:spPr>
          <a:xfrm>
            <a:off x="0" y="1033463"/>
            <a:ext cx="8915400" cy="15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 descr="logo_for_ppt.jp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6126574" y="6272212"/>
            <a:ext cx="2621790" cy="449263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/>
          <p:nvPr/>
        </p:nvSpPr>
        <p:spPr>
          <a:xfrm>
            <a:off x="8915400" y="0"/>
            <a:ext cx="228600" cy="6858000"/>
          </a:xfrm>
          <a:prstGeom prst="rect">
            <a:avLst/>
          </a:prstGeom>
          <a:solidFill>
            <a:srgbClr val="DC5A2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495300" y="6356350"/>
            <a:ext cx="381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876300" y="6356350"/>
            <a:ext cx="18288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8/19/2026</a:t>
            </a:r>
            <a:endParaRPr sz="12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1905000" y="6371739"/>
            <a:ext cx="41148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 Narrow"/>
              <a:buNone/>
            </a:pPr>
            <a:r>
              <a:rPr lang="es-MX"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Confidential Information  © 2010 M-I SWACO</a:t>
            </a:r>
            <a:endParaRPr/>
          </a:p>
        </p:txBody>
      </p:sp>
      <p:pic>
        <p:nvPicPr>
          <p:cNvPr id="15" name="Google Shape;15;p1" descr="logo_for_ppt.jp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6126574" y="6272212"/>
            <a:ext cx="2621790" cy="449263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"/>
          <p:cNvSpPr/>
          <p:nvPr/>
        </p:nvSpPr>
        <p:spPr>
          <a:xfrm>
            <a:off x="8915400" y="0"/>
            <a:ext cx="228600" cy="6858000"/>
          </a:xfrm>
          <a:prstGeom prst="rect">
            <a:avLst/>
          </a:prstGeom>
          <a:solidFill>
            <a:srgbClr val="DC5A2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495300" y="6356350"/>
            <a:ext cx="381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876300" y="6356350"/>
            <a:ext cx="18288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8/19/2026</a:t>
            </a:r>
            <a:endParaRPr sz="12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1905000" y="6371739"/>
            <a:ext cx="41148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 Narrow"/>
              <a:buNone/>
            </a:pPr>
            <a:r>
              <a:rPr lang="es-MX"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Confidential Information  © 2010 M-I SWACO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>
            <a:spLocks noGrp="1"/>
          </p:cNvSpPr>
          <p:nvPr>
            <p:ph type="title"/>
          </p:nvPr>
        </p:nvSpPr>
        <p:spPr>
          <a:xfrm>
            <a:off x="722313" y="2557265"/>
            <a:ext cx="7772400" cy="583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35F0B"/>
              </a:buClr>
              <a:buSzPts val="3600"/>
              <a:buFont typeface="Arial Narrow"/>
              <a:buNone/>
            </a:pPr>
            <a:r>
              <a:rPr lang="es-MX"/>
              <a:t>Standardizing ONE-TRAX WellSite</a:t>
            </a:r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body" idx="1"/>
          </p:nvPr>
        </p:nvSpPr>
        <p:spPr>
          <a:xfrm>
            <a:off x="722313" y="3861048"/>
            <a:ext cx="7772400" cy="2401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MX"/>
              <a:t>Eder  Nuñez</a:t>
            </a: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MX"/>
              <a:t>Carlos López</a:t>
            </a: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0" lvl="0" indent="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MX" sz="1400"/>
              <a:t>Maturin,  Febrero 28 al  02 de Marzo 2011</a:t>
            </a: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35F0B"/>
              </a:buClr>
              <a:buSzPts val="2800"/>
              <a:buFont typeface="Arial Narrow"/>
              <a:buNone/>
            </a:pPr>
            <a:r>
              <a:rPr lang="es-MX"/>
              <a:t>LOG-IT</a:t>
            </a:r>
            <a:endParaRPr/>
          </a:p>
        </p:txBody>
      </p:sp>
      <p:pic>
        <p:nvPicPr>
          <p:cNvPr id="119" name="Google Shape;119;p18"/>
          <p:cNvPicPr preferRelativeResize="0"/>
          <p:nvPr/>
        </p:nvPicPr>
        <p:blipFill rotWithShape="1">
          <a:blip r:embed="rId3">
            <a:alphaModFix/>
          </a:blip>
          <a:srcRect l="16238" t="16233" r="5210" b="3675"/>
          <a:stretch/>
        </p:blipFill>
        <p:spPr>
          <a:xfrm>
            <a:off x="360040" y="1124744"/>
            <a:ext cx="8244408" cy="5083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35F0B"/>
              </a:buClr>
              <a:buSzPts val="2800"/>
              <a:buFont typeface="Arial Narrow"/>
              <a:buNone/>
            </a:pPr>
            <a:r>
              <a:rPr lang="es-MX"/>
              <a:t>Que es ONE -TRAX Central?</a:t>
            </a:r>
            <a:endParaRPr/>
          </a:p>
        </p:txBody>
      </p:sp>
      <p:sp>
        <p:nvSpPr>
          <p:cNvPr id="125" name="Google Shape;125;p19"/>
          <p:cNvSpPr txBox="1"/>
          <p:nvPr/>
        </p:nvSpPr>
        <p:spPr>
          <a:xfrm>
            <a:off x="225492" y="1052736"/>
            <a:ext cx="8461308" cy="3539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01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MX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una base de datos a nivel mundial y una herramienta de consulta de los proyectos terminados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cada parte del mundo.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01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MX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Funciona como una aplicación en red, capaz de buscar la base de datos para recopilar información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los pozos que cumplan con criterios específicos.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0" marR="0" lvl="0" indent="-101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MX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 datos provienen de los archivos de ONE-TRAX siempre que éste haya sido finalizado y cerrado 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correctamente. 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01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MX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calidad y cantidad de los datos introducidos en el sitio es crucial para la utilidad de la base de datos. 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6" name="Google Shape;126;p19"/>
          <p:cNvGrpSpPr/>
          <p:nvPr/>
        </p:nvGrpSpPr>
        <p:grpSpPr>
          <a:xfrm>
            <a:off x="2885959" y="4301251"/>
            <a:ext cx="3546061" cy="2224093"/>
            <a:chOff x="594254" y="2555696"/>
            <a:chExt cx="5174086" cy="3253207"/>
          </a:xfrm>
        </p:grpSpPr>
        <p:pic>
          <p:nvPicPr>
            <p:cNvPr id="127" name="Google Shape;127;p19" descr="MCj04247700000[1]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322763" y="3437705"/>
              <a:ext cx="1208087" cy="15589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28" name="Google Shape;128;p19"/>
            <p:cNvCxnSpPr/>
            <p:nvPr/>
          </p:nvCxnSpPr>
          <p:spPr>
            <a:xfrm>
              <a:off x="3332569" y="3160448"/>
              <a:ext cx="885409" cy="759858"/>
            </a:xfrm>
            <a:prstGeom prst="straightConnector1">
              <a:avLst/>
            </a:prstGeom>
            <a:noFill/>
            <a:ln w="571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9" name="Google Shape;129;p19"/>
            <p:cNvCxnSpPr/>
            <p:nvPr/>
          </p:nvCxnSpPr>
          <p:spPr>
            <a:xfrm rot="10800000" flipH="1">
              <a:off x="1976430" y="4214031"/>
              <a:ext cx="2200284" cy="45720"/>
            </a:xfrm>
            <a:prstGeom prst="straightConnector1">
              <a:avLst/>
            </a:prstGeom>
            <a:noFill/>
            <a:ln w="571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pic>
          <p:nvPicPr>
            <p:cNvPr id="130" name="Google Shape;130;p1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050983" y="5132575"/>
              <a:ext cx="1717357" cy="23235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31" name="Google Shape;131;p19"/>
            <p:cNvCxnSpPr/>
            <p:nvPr/>
          </p:nvCxnSpPr>
          <p:spPr>
            <a:xfrm rot="10800000" flipH="1">
              <a:off x="3334043" y="4493622"/>
              <a:ext cx="885409" cy="759858"/>
            </a:xfrm>
            <a:prstGeom prst="straightConnector1">
              <a:avLst/>
            </a:prstGeom>
            <a:noFill/>
            <a:ln w="571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132" name="Google Shape;132;p19"/>
            <p:cNvGrpSpPr/>
            <p:nvPr/>
          </p:nvGrpSpPr>
          <p:grpSpPr>
            <a:xfrm>
              <a:off x="1924040" y="2555696"/>
              <a:ext cx="1355725" cy="1029114"/>
              <a:chOff x="2178050" y="2738024"/>
              <a:chExt cx="1355725" cy="1029114"/>
            </a:xfrm>
          </p:grpSpPr>
          <p:pic>
            <p:nvPicPr>
              <p:cNvPr id="133" name="Google Shape;133;p19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2178050" y="3538538"/>
                <a:ext cx="1355725" cy="228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4" name="Google Shape;134;p19" descr="C:\Documents and Settings\omendoza\Local Settings\Temporary Internet Files\Content.IE5\O2T8563K\MCj02314820000[1].wmf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2476289" y="2738024"/>
                <a:ext cx="842644" cy="76653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35" name="Google Shape;135;p19"/>
            <p:cNvGrpSpPr/>
            <p:nvPr/>
          </p:nvGrpSpPr>
          <p:grpSpPr>
            <a:xfrm>
              <a:off x="1924040" y="4618275"/>
              <a:ext cx="1355725" cy="1190628"/>
              <a:chOff x="2178050" y="4673598"/>
              <a:chExt cx="1355725" cy="1190628"/>
            </a:xfrm>
          </p:grpSpPr>
          <p:pic>
            <p:nvPicPr>
              <p:cNvPr id="136" name="Google Shape;136;p19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2178050" y="5635626"/>
                <a:ext cx="1355725" cy="228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7" name="Google Shape;137;p19" descr="C:\Documents and Settings\omendoza\Local Settings\Temporary Internet Files\Content.IE5\8T7DRD2A\MCj02314740000[1].wmf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2396353" y="4673598"/>
                <a:ext cx="919118" cy="95514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38" name="Google Shape;138;p19"/>
            <p:cNvGrpSpPr/>
            <p:nvPr/>
          </p:nvGrpSpPr>
          <p:grpSpPr>
            <a:xfrm>
              <a:off x="594254" y="3670538"/>
              <a:ext cx="1355725" cy="1099088"/>
              <a:chOff x="594254" y="3768196"/>
              <a:chExt cx="1355725" cy="1099088"/>
            </a:xfrm>
          </p:grpSpPr>
          <p:pic>
            <p:nvPicPr>
              <p:cNvPr id="139" name="Google Shape;139;p19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594254" y="4638684"/>
                <a:ext cx="1355725" cy="228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0" name="Google Shape;140;p19" descr="C:\Documents and Settings\omendoza\Local Settings\Temporary Internet Files\Content.IE5\HSSAZ6RR\MCj01496950000[1].wmf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709802" y="3768196"/>
                <a:ext cx="1124628" cy="87153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35F0B"/>
              </a:buClr>
              <a:buSzPts val="2800"/>
              <a:buFont typeface="Arial Narrow"/>
              <a:buNone/>
            </a:pPr>
            <a:r>
              <a:rPr lang="es-MX"/>
              <a:t>Cuales son beneficios de ONE-TRAX Central?</a:t>
            </a:r>
            <a:endParaRPr/>
          </a:p>
        </p:txBody>
      </p:sp>
      <p:sp>
        <p:nvSpPr>
          <p:cNvPr id="146" name="Google Shape;146;p20"/>
          <p:cNvSpPr txBox="1"/>
          <p:nvPr/>
        </p:nvSpPr>
        <p:spPr>
          <a:xfrm>
            <a:off x="539552" y="1268761"/>
            <a:ext cx="8147248" cy="409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ONE-TRAX Central proporciona un método seguro, para la recuperación de archivos de proyectos mundiales. Los usuarios disponen de una pagina (One-Trax Central) para consultar datos de las operaciones locales o aprender de otras operaciones alrededor del mundo.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ONE-TRAX Central permite: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01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MX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Mejor planificación de proyectos</a:t>
            </a:r>
            <a:endParaRPr/>
          </a:p>
          <a:p>
            <a:pPr marL="0" marR="0" lvl="0" indent="-101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MX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Recopilación de información para licitaciones.</a:t>
            </a:r>
            <a:endParaRPr/>
          </a:p>
          <a:p>
            <a:pPr marL="0" marR="0" lvl="0" indent="-101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MX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Múltiples análisis de datos</a:t>
            </a:r>
            <a:endParaRPr/>
          </a:p>
          <a:p>
            <a:pPr marL="0" marR="0" lvl="0" indent="-101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MX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Desglosar categorías de pérdidas</a:t>
            </a:r>
            <a:endParaRPr/>
          </a:p>
          <a:p>
            <a:pPr marL="0" marR="0" lvl="0" indent="-101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MX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Encontrar información sobre aplicación de nuevas tecnologías.</a:t>
            </a:r>
            <a:endParaRPr/>
          </a:p>
          <a:p>
            <a:pPr marL="0" marR="0" lvl="0" indent="-101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MX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Determinar máximas densidades utilizadas por intervalo.</a:t>
            </a:r>
            <a:endParaRPr/>
          </a:p>
          <a:p>
            <a:pPr marL="0" marR="0" lvl="0" indent="-101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MX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Visualizar Problemas potenciales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3608" y="1145809"/>
            <a:ext cx="1973178" cy="26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3528" y="1463719"/>
            <a:ext cx="3740874" cy="760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1"/>
          <p:cNvPicPr preferRelativeResize="0"/>
          <p:nvPr/>
        </p:nvPicPr>
        <p:blipFill rotWithShape="1">
          <a:blip r:embed="rId5">
            <a:alphaModFix/>
          </a:blip>
          <a:srcRect l="3291" t="2000" r="3432" b="2882"/>
          <a:stretch/>
        </p:blipFill>
        <p:spPr>
          <a:xfrm>
            <a:off x="1043608" y="2276872"/>
            <a:ext cx="1829459" cy="2387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59204" y="1463719"/>
            <a:ext cx="3731263" cy="39604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5" name="Google Shape;155;p21"/>
          <p:cNvCxnSpPr/>
          <p:nvPr/>
        </p:nvCxnSpPr>
        <p:spPr>
          <a:xfrm>
            <a:off x="2411760" y="2564905"/>
            <a:ext cx="2768600" cy="1"/>
          </a:xfrm>
          <a:prstGeom prst="straightConnector1">
            <a:avLst/>
          </a:prstGeom>
          <a:noFill/>
          <a:ln w="31750" cap="flat" cmpd="sng">
            <a:solidFill>
              <a:srgbClr val="FC7F32"/>
            </a:solidFill>
            <a:prstDash val="solid"/>
            <a:round/>
            <a:headEnd type="stealth" w="lg" len="lg"/>
            <a:tailEnd type="stealth" w="lg" len="lg"/>
          </a:ln>
        </p:spPr>
      </p:cxnSp>
      <p:cxnSp>
        <p:nvCxnSpPr>
          <p:cNvPr id="156" name="Google Shape;156;p21"/>
          <p:cNvCxnSpPr/>
          <p:nvPr/>
        </p:nvCxnSpPr>
        <p:spPr>
          <a:xfrm>
            <a:off x="2209800" y="2780928"/>
            <a:ext cx="2768600" cy="1"/>
          </a:xfrm>
          <a:prstGeom prst="straightConnector1">
            <a:avLst/>
          </a:prstGeom>
          <a:noFill/>
          <a:ln w="31750" cap="flat" cmpd="sng">
            <a:solidFill>
              <a:srgbClr val="7EA241"/>
            </a:solidFill>
            <a:prstDash val="solid"/>
            <a:round/>
            <a:headEnd type="stealth" w="lg" len="lg"/>
            <a:tailEnd type="stealth" w="lg" len="lg"/>
          </a:ln>
        </p:spPr>
      </p:cxnSp>
      <p:cxnSp>
        <p:nvCxnSpPr>
          <p:cNvPr id="157" name="Google Shape;157;p21"/>
          <p:cNvCxnSpPr/>
          <p:nvPr/>
        </p:nvCxnSpPr>
        <p:spPr>
          <a:xfrm rot="10800000" flipH="1">
            <a:off x="2209800" y="2734784"/>
            <a:ext cx="5274600" cy="550200"/>
          </a:xfrm>
          <a:prstGeom prst="bentConnector3">
            <a:avLst>
              <a:gd name="adj1" fmla="val 99923"/>
            </a:avLst>
          </a:prstGeom>
          <a:noFill/>
          <a:ln w="31750" cap="flat" cmpd="sng">
            <a:solidFill>
              <a:srgbClr val="23395C"/>
            </a:solidFill>
            <a:prstDash val="solid"/>
            <a:round/>
            <a:headEnd type="stealth" w="lg" len="lg"/>
            <a:tailEnd type="stealth" w="lg" len="lg"/>
          </a:ln>
        </p:spPr>
      </p:cxnSp>
      <p:sp>
        <p:nvSpPr>
          <p:cNvPr id="158" name="Google Shape;158;p21"/>
          <p:cNvSpPr txBox="1"/>
          <p:nvPr/>
        </p:nvSpPr>
        <p:spPr>
          <a:xfrm>
            <a:off x="611560" y="548680"/>
            <a:ext cx="605120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 i="0" u="none" strike="noStrike" cap="none">
                <a:solidFill>
                  <a:srgbClr val="E35F0B"/>
                </a:solidFill>
                <a:latin typeface="Arial Narrow"/>
                <a:ea typeface="Arial Narrow"/>
                <a:cs typeface="Arial Narrow"/>
                <a:sym typeface="Arial Narrow"/>
              </a:rPr>
              <a:t>Como conecta ONE-TRAX CENTRAL a ONE-TRAX Wellsite</a:t>
            </a:r>
            <a:endParaRPr sz="2000" b="1">
              <a:solidFill>
                <a:srgbClr val="E35F0B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9" name="Google Shape;159;p21"/>
          <p:cNvSpPr/>
          <p:nvPr/>
        </p:nvSpPr>
        <p:spPr>
          <a:xfrm>
            <a:off x="5370016" y="1115452"/>
            <a:ext cx="193828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rgbClr val="FF0000"/>
                </a:solidFill>
                <a:latin typeface="Arial Narrow"/>
                <a:ea typeface="Arial Narrow"/>
                <a:cs typeface="Arial Narrow"/>
                <a:sym typeface="Arial Narrow"/>
              </a:rPr>
              <a:t>ONE-TRAX Wellsite</a:t>
            </a:r>
            <a:endParaRPr sz="1800" b="1">
              <a:solidFill>
                <a:srgbClr val="FF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0" name="Google Shape;160;p21"/>
          <p:cNvSpPr/>
          <p:nvPr/>
        </p:nvSpPr>
        <p:spPr>
          <a:xfrm>
            <a:off x="5370016" y="1145809"/>
            <a:ext cx="1938288" cy="266967"/>
          </a:xfrm>
          <a:prstGeom prst="rect">
            <a:avLst/>
          </a:prstGeom>
          <a:gradFill>
            <a:gsLst>
              <a:gs pos="0">
                <a:srgbClr val="376EC9">
                  <a:alpha val="14902"/>
                </a:srgbClr>
              </a:gs>
              <a:gs pos="100000">
                <a:srgbClr val="97B6FF"/>
              </a:gs>
            </a:gsLst>
            <a:lin ang="16200000" scaled="0"/>
          </a:gradFill>
          <a:ln w="9525" cap="flat" cmpd="sng">
            <a:solidFill>
              <a:srgbClr val="436FB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35F0B"/>
              </a:buClr>
              <a:buSzPts val="2800"/>
              <a:buFont typeface="Arial Narrow"/>
              <a:buNone/>
            </a:pPr>
            <a:r>
              <a:rPr lang="es-MX"/>
              <a:t>¿Qué parámetros podemos localizar?</a:t>
            </a:r>
            <a:endParaRPr/>
          </a:p>
        </p:txBody>
      </p:sp>
      <p:grpSp>
        <p:nvGrpSpPr>
          <p:cNvPr id="166" name="Google Shape;166;p22"/>
          <p:cNvGrpSpPr/>
          <p:nvPr/>
        </p:nvGrpSpPr>
        <p:grpSpPr>
          <a:xfrm>
            <a:off x="592813" y="1083741"/>
            <a:ext cx="1462316" cy="5580749"/>
            <a:chOff x="2021257" y="1126073"/>
            <a:chExt cx="1462316" cy="5580749"/>
          </a:xfrm>
        </p:grpSpPr>
        <p:grpSp>
          <p:nvGrpSpPr>
            <p:cNvPr id="167" name="Google Shape;167;p22"/>
            <p:cNvGrpSpPr/>
            <p:nvPr/>
          </p:nvGrpSpPr>
          <p:grpSpPr>
            <a:xfrm>
              <a:off x="2021257" y="1634076"/>
              <a:ext cx="1462316" cy="5072746"/>
              <a:chOff x="533400" y="685800"/>
              <a:chExt cx="1676400" cy="5815400"/>
            </a:xfrm>
          </p:grpSpPr>
          <p:pic>
            <p:nvPicPr>
              <p:cNvPr id="168" name="Google Shape;168;p22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533400" y="685800"/>
                <a:ext cx="1676400" cy="443202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9" name="Google Shape;169;p22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533400" y="5105400"/>
                <a:ext cx="1676400" cy="1395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70" name="Google Shape;170;p22"/>
            <p:cNvSpPr txBox="1"/>
            <p:nvPr/>
          </p:nvSpPr>
          <p:spPr>
            <a:xfrm>
              <a:off x="2196526" y="1126073"/>
              <a:ext cx="11117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400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Basic Well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400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Information</a:t>
              </a:r>
              <a:endParaRPr sz="14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</p:grpSp>
      <p:grpSp>
        <p:nvGrpSpPr>
          <p:cNvPr id="171" name="Google Shape;171;p22"/>
          <p:cNvGrpSpPr/>
          <p:nvPr/>
        </p:nvGrpSpPr>
        <p:grpSpPr>
          <a:xfrm>
            <a:off x="2483768" y="1686576"/>
            <a:ext cx="1537806" cy="4334712"/>
            <a:chOff x="5842323" y="1408667"/>
            <a:chExt cx="1537806" cy="4334712"/>
          </a:xfrm>
        </p:grpSpPr>
        <p:sp>
          <p:nvSpPr>
            <p:cNvPr id="172" name="Google Shape;172;p22"/>
            <p:cNvSpPr txBox="1"/>
            <p:nvPr/>
          </p:nvSpPr>
          <p:spPr>
            <a:xfrm>
              <a:off x="5876890" y="1408667"/>
              <a:ext cx="14686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400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Casing Intervals</a:t>
              </a:r>
              <a:endParaRPr sz="14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pic>
          <p:nvPicPr>
            <p:cNvPr id="173" name="Google Shape;173;p2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42323" y="1747505"/>
              <a:ext cx="1537806" cy="39958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4" name="Google Shape;174;p22"/>
          <p:cNvGrpSpPr/>
          <p:nvPr/>
        </p:nvGrpSpPr>
        <p:grpSpPr>
          <a:xfrm>
            <a:off x="4283968" y="1679292"/>
            <a:ext cx="1474458" cy="1245652"/>
            <a:chOff x="4190901" y="1507066"/>
            <a:chExt cx="1474458" cy="1245652"/>
          </a:xfrm>
        </p:grpSpPr>
        <p:sp>
          <p:nvSpPr>
            <p:cNvPr id="175" name="Google Shape;175;p22"/>
            <p:cNvSpPr txBox="1"/>
            <p:nvPr/>
          </p:nvSpPr>
          <p:spPr>
            <a:xfrm>
              <a:off x="4297990" y="1507066"/>
              <a:ext cx="126028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400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Basic Interval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400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Summary</a:t>
              </a:r>
              <a:endParaRPr sz="14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pic>
          <p:nvPicPr>
            <p:cNvPr id="176" name="Google Shape;176;p22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190901" y="2037300"/>
              <a:ext cx="1474458" cy="71541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7" name="Google Shape;177;p22"/>
          <p:cNvGrpSpPr/>
          <p:nvPr/>
        </p:nvGrpSpPr>
        <p:grpSpPr>
          <a:xfrm>
            <a:off x="4414410" y="3140968"/>
            <a:ext cx="1309718" cy="1412031"/>
            <a:chOff x="7509934" y="1202266"/>
            <a:chExt cx="1309718" cy="1412031"/>
          </a:xfrm>
        </p:grpSpPr>
        <p:sp>
          <p:nvSpPr>
            <p:cNvPr id="178" name="Google Shape;178;p22"/>
            <p:cNvSpPr txBox="1"/>
            <p:nvPr/>
          </p:nvSpPr>
          <p:spPr>
            <a:xfrm>
              <a:off x="7509934" y="1202266"/>
              <a:ext cx="1309718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400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Fluid Volumes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400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by Interval</a:t>
              </a:r>
              <a:endParaRPr sz="14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pic>
          <p:nvPicPr>
            <p:cNvPr id="179" name="Google Shape;179;p22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7547150" y="1744132"/>
              <a:ext cx="1246075" cy="87016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0" name="Google Shape;180;p22"/>
          <p:cNvGrpSpPr/>
          <p:nvPr/>
        </p:nvGrpSpPr>
        <p:grpSpPr>
          <a:xfrm>
            <a:off x="4427984" y="5017505"/>
            <a:ext cx="1523999" cy="787759"/>
            <a:chOff x="2345267" y="1684865"/>
            <a:chExt cx="1523999" cy="787759"/>
          </a:xfrm>
        </p:grpSpPr>
        <p:sp>
          <p:nvSpPr>
            <p:cNvPr id="181" name="Google Shape;181;p22"/>
            <p:cNvSpPr txBox="1"/>
            <p:nvPr/>
          </p:nvSpPr>
          <p:spPr>
            <a:xfrm>
              <a:off x="2345267" y="1684865"/>
              <a:ext cx="1523999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400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Fluid Loss Labels</a:t>
              </a:r>
              <a:endParaRPr sz="14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pic>
          <p:nvPicPr>
            <p:cNvPr id="182" name="Google Shape;182;p22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2356949" y="2018944"/>
              <a:ext cx="1500634" cy="45368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3" name="Google Shape;183;p22"/>
          <p:cNvGrpSpPr/>
          <p:nvPr/>
        </p:nvGrpSpPr>
        <p:grpSpPr>
          <a:xfrm>
            <a:off x="6444208" y="1916832"/>
            <a:ext cx="1634104" cy="4296827"/>
            <a:chOff x="7188691" y="1236140"/>
            <a:chExt cx="1634104" cy="4296827"/>
          </a:xfrm>
        </p:grpSpPr>
        <p:pic>
          <p:nvPicPr>
            <p:cNvPr id="184" name="Google Shape;184;p22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7188691" y="1549400"/>
              <a:ext cx="1634104" cy="39835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22"/>
            <p:cNvSpPr txBox="1"/>
            <p:nvPr/>
          </p:nvSpPr>
          <p:spPr>
            <a:xfrm>
              <a:off x="7197691" y="1236140"/>
              <a:ext cx="16161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400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Fluid Properties</a:t>
              </a:r>
              <a:endParaRPr sz="14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3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35F0B"/>
              </a:buClr>
              <a:buSzPts val="2800"/>
              <a:buFont typeface="Arial Narrow"/>
              <a:buNone/>
            </a:pPr>
            <a:r>
              <a:rPr lang="es-MX"/>
              <a:t>One-Trax Wellsite</a:t>
            </a:r>
            <a:endParaRPr/>
          </a:p>
        </p:txBody>
      </p:sp>
      <p:pic>
        <p:nvPicPr>
          <p:cNvPr id="191" name="Google Shape;191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196752"/>
            <a:ext cx="4634321" cy="49379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25298" y="1268759"/>
            <a:ext cx="2519110" cy="2448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24128" y="3891682"/>
            <a:ext cx="2500601" cy="212960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4" name="Google Shape;194;p23"/>
          <p:cNvCxnSpPr/>
          <p:nvPr/>
        </p:nvCxnSpPr>
        <p:spPr>
          <a:xfrm rot="10800000">
            <a:off x="4561656" y="2492896"/>
            <a:ext cx="1162472" cy="141734"/>
          </a:xfrm>
          <a:prstGeom prst="straightConnector1">
            <a:avLst/>
          </a:prstGeom>
          <a:noFill/>
          <a:ln w="317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95" name="Google Shape;195;p23"/>
          <p:cNvCxnSpPr/>
          <p:nvPr/>
        </p:nvCxnSpPr>
        <p:spPr>
          <a:xfrm rot="10800000">
            <a:off x="4561656" y="3068960"/>
            <a:ext cx="1522512" cy="1296144"/>
          </a:xfrm>
          <a:prstGeom prst="straightConnector1">
            <a:avLst/>
          </a:prstGeom>
          <a:noFill/>
          <a:ln w="317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35F0B"/>
              </a:buClr>
              <a:buSzPts val="2800"/>
              <a:buFont typeface="Arial Narrow"/>
              <a:buNone/>
            </a:pPr>
            <a:r>
              <a:rPr lang="es-MX"/>
              <a:t>Well Information</a:t>
            </a:r>
            <a:endParaRPr/>
          </a:p>
        </p:txBody>
      </p:sp>
      <p:pic>
        <p:nvPicPr>
          <p:cNvPr id="201" name="Google Shape;201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1520" y="1119188"/>
            <a:ext cx="6779096" cy="505302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4"/>
          <p:cNvSpPr txBox="1">
            <a:spLocks noGrp="1"/>
          </p:cNvSpPr>
          <p:nvPr>
            <p:ph type="body" idx="3"/>
          </p:nvPr>
        </p:nvSpPr>
        <p:spPr>
          <a:xfrm>
            <a:off x="7102624" y="1413892"/>
            <a:ext cx="1717848" cy="1655068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50800" dir="5400000" algn="ctr" rotWithShape="0">
              <a:schemeClr val="lt1"/>
            </a:outerShdw>
          </a:effectLst>
        </p:spPr>
        <p:txBody>
          <a:bodyPr spcFirstLastPara="1" wrap="square" lIns="91425" tIns="0" rIns="91425" bIns="0" anchor="t" anchorCtr="0">
            <a:noAutofit/>
          </a:bodyPr>
          <a:lstStyle/>
          <a:p>
            <a:pPr marL="164592" lvl="0" indent="-164592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 b="1"/>
              <a:t>IMPORTANTE:</a:t>
            </a:r>
            <a:endParaRPr/>
          </a:p>
          <a:p>
            <a:pPr marL="164592" lvl="0" indent="-164592" algn="just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400"/>
              <a:buNone/>
            </a:pPr>
            <a:r>
              <a:rPr lang="es-MX" b="1"/>
              <a:t>Colocar información completa del pozo. </a:t>
            </a:r>
            <a:endParaRPr/>
          </a:p>
          <a:p>
            <a:pPr marL="164592" lvl="0" indent="-164592" algn="just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400"/>
              <a:buNone/>
            </a:pPr>
            <a:r>
              <a:rPr lang="es-MX" sz="1400" b="1"/>
              <a:t>Datos correctos!!!</a:t>
            </a:r>
            <a:endParaRPr/>
          </a:p>
          <a:p>
            <a:pPr marL="164592" lvl="0" indent="-164592" algn="just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400"/>
              <a:buNone/>
            </a:pPr>
            <a:endParaRPr sz="1400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5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35F0B"/>
              </a:buClr>
              <a:buSzPts val="2800"/>
              <a:buFont typeface="Arial Narrow"/>
              <a:buNone/>
            </a:pPr>
            <a:r>
              <a:rPr lang="es-MX"/>
              <a:t>Marketing Codes</a:t>
            </a:r>
            <a:endParaRPr/>
          </a:p>
        </p:txBody>
      </p:sp>
      <p:sp>
        <p:nvSpPr>
          <p:cNvPr id="208" name="Google Shape;208;p25"/>
          <p:cNvSpPr txBox="1">
            <a:spLocks noGrp="1"/>
          </p:cNvSpPr>
          <p:nvPr>
            <p:ph type="body" idx="2"/>
          </p:nvPr>
        </p:nvSpPr>
        <p:spPr>
          <a:xfrm>
            <a:off x="457200" y="1828800"/>
            <a:ext cx="3886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164592" lvl="0" indent="-62992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35F0B"/>
              </a:buClr>
              <a:buSzPts val="1600"/>
              <a:buFont typeface="Arial"/>
              <a:buNone/>
            </a:pPr>
            <a:endParaRPr/>
          </a:p>
        </p:txBody>
      </p:sp>
      <p:sp>
        <p:nvSpPr>
          <p:cNvPr id="209" name="Google Shape;209;p25"/>
          <p:cNvSpPr txBox="1">
            <a:spLocks noGrp="1"/>
          </p:cNvSpPr>
          <p:nvPr>
            <p:ph type="body" idx="3"/>
          </p:nvPr>
        </p:nvSpPr>
        <p:spPr>
          <a:xfrm>
            <a:off x="7102624" y="1413892"/>
            <a:ext cx="1717848" cy="1655068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50800" dir="5400000" algn="ctr" rotWithShape="0">
              <a:schemeClr val="lt1"/>
            </a:outerShdw>
          </a:effectLst>
        </p:spPr>
        <p:txBody>
          <a:bodyPr spcFirstLastPara="1" wrap="square" lIns="91425" tIns="0" rIns="91425" bIns="0" anchor="t" anchorCtr="0">
            <a:noAutofit/>
          </a:bodyPr>
          <a:lstStyle/>
          <a:p>
            <a:pPr marL="164592" lvl="0" indent="-164592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 sz="1400" b="1"/>
              <a:t>Criterio de selección: Fluido de nueva tecnología.</a:t>
            </a:r>
            <a:endParaRPr/>
          </a:p>
          <a:p>
            <a:pPr marL="164592" lvl="0" indent="-164592" algn="just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400"/>
              <a:buNone/>
            </a:pPr>
            <a:r>
              <a:rPr lang="es-MX" sz="1400" b="1"/>
              <a:t>	Fluido usado en la sección más crítica.</a:t>
            </a:r>
            <a:endParaRPr sz="1400" b="1"/>
          </a:p>
        </p:txBody>
      </p:sp>
      <p:pic>
        <p:nvPicPr>
          <p:cNvPr id="210" name="Google Shape;210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04" y="1052736"/>
            <a:ext cx="6912768" cy="515265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1" name="Google Shape;211;p25"/>
          <p:cNvCxnSpPr>
            <a:stCxn id="209" idx="1"/>
          </p:cNvCxnSpPr>
          <p:nvPr/>
        </p:nvCxnSpPr>
        <p:spPr>
          <a:xfrm rot="10800000">
            <a:off x="5940124" y="2099826"/>
            <a:ext cx="1162500" cy="141600"/>
          </a:xfrm>
          <a:prstGeom prst="straightConnector1">
            <a:avLst/>
          </a:prstGeom>
          <a:noFill/>
          <a:ln w="317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6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35F0B"/>
              </a:buClr>
              <a:buSzPts val="2800"/>
              <a:buFont typeface="Arial Narrow"/>
              <a:buNone/>
            </a:pPr>
            <a:r>
              <a:rPr lang="es-MX"/>
              <a:t>Well Casing Intervals</a:t>
            </a:r>
            <a:endParaRPr/>
          </a:p>
        </p:txBody>
      </p:sp>
      <p:pic>
        <p:nvPicPr>
          <p:cNvPr id="217" name="Google Shape;217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1841" y="1340768"/>
            <a:ext cx="6940439" cy="4464496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6"/>
          <p:cNvSpPr txBox="1">
            <a:spLocks noGrp="1"/>
          </p:cNvSpPr>
          <p:nvPr>
            <p:ph type="body" idx="3"/>
          </p:nvPr>
        </p:nvSpPr>
        <p:spPr>
          <a:xfrm>
            <a:off x="7092280" y="1340768"/>
            <a:ext cx="1728192" cy="2231132"/>
          </a:xfrm>
          <a:prstGeom prst="rect">
            <a:avLst/>
          </a:prstGeom>
          <a:solidFill>
            <a:srgbClr val="E36C09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50800" dir="5400000" algn="ctr" rotWithShape="0">
              <a:schemeClr val="lt1"/>
            </a:outerShdw>
          </a:effectLst>
        </p:spPr>
        <p:txBody>
          <a:bodyPr spcFirstLastPara="1" wrap="square" lIns="91425" tIns="0" rIns="91425" bIns="0" anchor="t" anchorCtr="0">
            <a:noAutofit/>
          </a:bodyPr>
          <a:lstStyle/>
          <a:p>
            <a:pPr marL="164592" lvl="0" indent="-164592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 sz="1400" b="1"/>
              <a:t>IMPORTANTE:</a:t>
            </a:r>
            <a:endParaRPr/>
          </a:p>
          <a:p>
            <a:pPr marL="164592" lvl="0" indent="-164592" algn="just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400"/>
              <a:buNone/>
            </a:pPr>
            <a:r>
              <a:rPr lang="es-MX" sz="1400" b="1"/>
              <a:t>Solo se coloca el primer intervalo programado.</a:t>
            </a:r>
            <a:endParaRPr/>
          </a:p>
          <a:p>
            <a:pPr marL="164592" lvl="0" indent="-164592" algn="just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400"/>
              <a:buNone/>
            </a:pPr>
            <a:r>
              <a:rPr lang="es-MX" sz="1400" b="1"/>
              <a:t>NO completar toda la información hasta que la fase este terminada.</a:t>
            </a:r>
            <a:endParaRPr sz="1400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35F0B"/>
              </a:buClr>
              <a:buSzPts val="2800"/>
              <a:buFont typeface="Arial Narrow"/>
              <a:buNone/>
            </a:pPr>
            <a:r>
              <a:rPr lang="es-MX"/>
              <a:t>Well Survey</a:t>
            </a:r>
            <a:endParaRPr/>
          </a:p>
        </p:txBody>
      </p:sp>
      <p:sp>
        <p:nvSpPr>
          <p:cNvPr id="224" name="Google Shape;224;p27"/>
          <p:cNvSpPr txBox="1">
            <a:spLocks noGrp="1"/>
          </p:cNvSpPr>
          <p:nvPr>
            <p:ph type="body" idx="2"/>
          </p:nvPr>
        </p:nvSpPr>
        <p:spPr>
          <a:xfrm>
            <a:off x="4305300" y="1484784"/>
            <a:ext cx="4659188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164592" lvl="0" indent="-164592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s-MX" b="1"/>
              <a:t>PASOS PARA CARGAR EL SURVEY EN ONE TRAX</a:t>
            </a:r>
            <a:endParaRPr/>
          </a:p>
          <a:p>
            <a:pPr marL="164592" lvl="0" indent="-164592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s-MX"/>
              <a:t>Del survey en excell copiar las sig. 3 columnas: </a:t>
            </a:r>
            <a:endParaRPr/>
          </a:p>
          <a:p>
            <a:pPr marL="164592" lvl="0" indent="-1645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s-MX"/>
              <a:t>Profundidad medida, Inclinación, Azimuth. </a:t>
            </a:r>
            <a:endParaRPr/>
          </a:p>
          <a:p>
            <a:pPr marL="164592" lvl="0" indent="-1645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s-MX"/>
              <a:t>	(eliminar los espacios en blanco). </a:t>
            </a:r>
            <a:endParaRPr/>
          </a:p>
          <a:p>
            <a:pPr marL="164592" lvl="0" indent="-1645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s-MX"/>
              <a:t>Guardar  el archivo como: CSV delimitado por comas.</a:t>
            </a:r>
            <a:endParaRPr/>
          </a:p>
          <a:p>
            <a:pPr marL="164592" lvl="0" indent="-1645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s-MX"/>
              <a:t>Abrir archivo anterior con Notepad y guardar como.</a:t>
            </a:r>
            <a:endParaRPr/>
          </a:p>
          <a:p>
            <a:pPr marL="164592" lvl="0" indent="-1645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/>
          </a:p>
          <a:p>
            <a:pPr marL="164592" lvl="0" indent="-1645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/>
          </a:p>
          <a:p>
            <a:pPr marL="164592" lvl="0" indent="-1645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s-MX"/>
              <a:t>En el One Trax seleccionar:</a:t>
            </a:r>
            <a:endParaRPr/>
          </a:p>
          <a:p>
            <a:pPr marL="164592" lvl="0" indent="-1645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s-MX"/>
              <a:t>Importar</a:t>
            </a:r>
            <a:endParaRPr/>
          </a:p>
          <a:p>
            <a:pPr marL="164592" lvl="0" indent="-1645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s-MX"/>
              <a:t>Seleccionar el archivo en Notepad y Abrir</a:t>
            </a:r>
            <a:endParaRPr/>
          </a:p>
          <a:p>
            <a:pPr marL="164592" lvl="0" indent="-1645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s-MX"/>
              <a:t>Los datos pasan a la ventana de Well Survey.</a:t>
            </a:r>
            <a:endParaRPr/>
          </a:p>
          <a:p>
            <a:pPr marL="164592" lvl="0" indent="-164592" algn="l" rtl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endParaRPr/>
          </a:p>
        </p:txBody>
      </p:sp>
      <p:pic>
        <p:nvPicPr>
          <p:cNvPr id="225" name="Google Shape;225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052736"/>
            <a:ext cx="3848100" cy="524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8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35F0B"/>
              </a:buClr>
              <a:buSzPts val="2800"/>
              <a:buFont typeface="Arial Narrow"/>
              <a:buNone/>
            </a:pPr>
            <a:r>
              <a:rPr lang="es-MX"/>
              <a:t>Activación de Productos/Equipos/Mallas</a:t>
            </a:r>
            <a:endParaRPr/>
          </a:p>
        </p:txBody>
      </p:sp>
      <p:pic>
        <p:nvPicPr>
          <p:cNvPr id="231" name="Google Shape;231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51720" y="1124745"/>
            <a:ext cx="5184576" cy="50405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2" name="Google Shape;232;p28"/>
          <p:cNvCxnSpPr/>
          <p:nvPr/>
        </p:nvCxnSpPr>
        <p:spPr>
          <a:xfrm>
            <a:off x="1331640" y="2780928"/>
            <a:ext cx="3456384" cy="1588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9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35F0B"/>
              </a:buClr>
              <a:buSzPts val="2800"/>
              <a:buFont typeface="Arial Narrow"/>
              <a:buNone/>
            </a:pPr>
            <a:r>
              <a:rPr lang="es-MX"/>
              <a:t>Activación de Productos</a:t>
            </a:r>
            <a:endParaRPr/>
          </a:p>
        </p:txBody>
      </p:sp>
      <p:pic>
        <p:nvPicPr>
          <p:cNvPr id="238" name="Google Shape;238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27784" y="1268760"/>
            <a:ext cx="5366345" cy="4752528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9"/>
          <p:cNvSpPr txBox="1"/>
          <p:nvPr/>
        </p:nvSpPr>
        <p:spPr>
          <a:xfrm>
            <a:off x="181535" y="3116868"/>
            <a:ext cx="2302233" cy="738664"/>
          </a:xfrm>
          <a:prstGeom prst="rect">
            <a:avLst/>
          </a:prstGeom>
          <a:gradFill>
            <a:gsLst>
              <a:gs pos="0">
                <a:srgbClr val="FF5700"/>
              </a:gs>
              <a:gs pos="100000">
                <a:srgbClr val="FF9475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b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Se pueden crear un mismo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b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Código con el mismo nombre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b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Solo se diferencia en el costo.</a:t>
            </a:r>
            <a:endParaRPr sz="1400" b="1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0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35F0B"/>
              </a:buClr>
              <a:buSzPts val="2800"/>
              <a:buFont typeface="Arial Narrow"/>
              <a:buNone/>
            </a:pPr>
            <a:r>
              <a:rPr lang="es-MX"/>
              <a:t>Activación de Equipos de Renta</a:t>
            </a:r>
            <a:endParaRPr/>
          </a:p>
        </p:txBody>
      </p:sp>
      <p:pic>
        <p:nvPicPr>
          <p:cNvPr id="245" name="Google Shape;24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3608" y="1196752"/>
            <a:ext cx="7065962" cy="4896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35F0B"/>
              </a:buClr>
              <a:buSzPts val="2800"/>
              <a:buFont typeface="Arial Narrow"/>
              <a:buNone/>
            </a:pPr>
            <a:r>
              <a:rPr lang="es-MX"/>
              <a:t>Activación de Mallas</a:t>
            </a:r>
            <a:endParaRPr/>
          </a:p>
        </p:txBody>
      </p:sp>
      <p:pic>
        <p:nvPicPr>
          <p:cNvPr id="251" name="Google Shape;251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7584" y="1340768"/>
            <a:ext cx="7256462" cy="525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2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35F0B"/>
              </a:buClr>
              <a:buSzPts val="2800"/>
              <a:buFont typeface="Arial Narrow"/>
              <a:buNone/>
            </a:pPr>
            <a:r>
              <a:rPr lang="es-MX" b="0"/>
              <a:t>Benchmarks</a:t>
            </a:r>
            <a:endParaRPr b="0"/>
          </a:p>
        </p:txBody>
      </p:sp>
      <p:pic>
        <p:nvPicPr>
          <p:cNvPr id="257" name="Google Shape;257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51720" y="1124745"/>
            <a:ext cx="5184576" cy="49685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8" name="Google Shape;258;p32"/>
          <p:cNvCxnSpPr/>
          <p:nvPr/>
        </p:nvCxnSpPr>
        <p:spPr>
          <a:xfrm>
            <a:off x="1331640" y="3139380"/>
            <a:ext cx="3456384" cy="1588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</p:cxnSp>
      <p:sp>
        <p:nvSpPr>
          <p:cNvPr id="259" name="Google Shape;259;p32"/>
          <p:cNvSpPr txBox="1"/>
          <p:nvPr/>
        </p:nvSpPr>
        <p:spPr>
          <a:xfrm>
            <a:off x="251521" y="2492896"/>
            <a:ext cx="1512168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b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Los Objetivos: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0" marR="0" lvl="0" indent="-88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MX" sz="14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Numéricos</a:t>
            </a:r>
            <a:endParaRPr/>
          </a:p>
          <a:p>
            <a:pPr marL="0" marR="0" lvl="0" indent="-88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MX" sz="14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Rangos</a:t>
            </a:r>
            <a:endParaRPr/>
          </a:p>
          <a:p>
            <a:pPr marL="0" marR="0" lvl="0" indent="-88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MX" sz="14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Texto</a:t>
            </a:r>
            <a:endParaRPr sz="14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3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35F0B"/>
              </a:buClr>
              <a:buSzPts val="2800"/>
              <a:buFont typeface="Arial Narrow"/>
              <a:buNone/>
            </a:pPr>
            <a:r>
              <a:rPr lang="es-MX"/>
              <a:t>Benchmarks</a:t>
            </a:r>
            <a:endParaRPr/>
          </a:p>
        </p:txBody>
      </p:sp>
      <p:pic>
        <p:nvPicPr>
          <p:cNvPr id="265" name="Google Shape;265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43808" y="1412776"/>
            <a:ext cx="5555826" cy="4896543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3"/>
          <p:cNvSpPr txBox="1"/>
          <p:nvPr/>
        </p:nvSpPr>
        <p:spPr>
          <a:xfrm>
            <a:off x="395536" y="1844824"/>
            <a:ext cx="2232248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Podemos  seleccionar nuestros indicadores de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Desempeño: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0" marR="0" lvl="0" indent="-76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MX" sz="12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Propiedades de Lodo</a:t>
            </a:r>
            <a:endParaRPr/>
          </a:p>
          <a:p>
            <a:pPr marL="0" marR="0" lvl="0" indent="-76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MX" sz="12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Análisis de sólidos</a:t>
            </a:r>
            <a:endParaRPr/>
          </a:p>
          <a:p>
            <a:pPr marL="0" marR="0" lvl="0" indent="-76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MX" sz="12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Volúmenes</a:t>
            </a:r>
            <a:endParaRPr/>
          </a:p>
          <a:p>
            <a:pPr marL="0" marR="0" lvl="0" indent="-76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MX" sz="12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Costos</a:t>
            </a:r>
            <a:endParaRPr sz="12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267" name="Google Shape;267;p33"/>
          <p:cNvCxnSpPr/>
          <p:nvPr/>
        </p:nvCxnSpPr>
        <p:spPr>
          <a:xfrm>
            <a:off x="2411760" y="1990429"/>
            <a:ext cx="360040" cy="1588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51720" y="1268760"/>
            <a:ext cx="6331024" cy="4824536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4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35F0B"/>
              </a:buClr>
              <a:buSzPts val="2800"/>
              <a:buFont typeface="Arial Narrow"/>
              <a:buNone/>
            </a:pPr>
            <a:r>
              <a:rPr lang="es-MX"/>
              <a:t>Benchmarks</a:t>
            </a:r>
            <a:endParaRPr/>
          </a:p>
        </p:txBody>
      </p:sp>
      <p:sp>
        <p:nvSpPr>
          <p:cNvPr id="274" name="Google Shape;274;p34"/>
          <p:cNvSpPr txBox="1"/>
          <p:nvPr/>
        </p:nvSpPr>
        <p:spPr>
          <a:xfrm>
            <a:off x="251520" y="2092206"/>
            <a:ext cx="137249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Indicador Numérico</a:t>
            </a:r>
            <a:endParaRPr sz="1200" b="1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275" name="Google Shape;275;p34"/>
          <p:cNvCxnSpPr>
            <a:stCxn id="274" idx="3"/>
          </p:cNvCxnSpPr>
          <p:nvPr/>
        </p:nvCxnSpPr>
        <p:spPr>
          <a:xfrm>
            <a:off x="1624012" y="2230706"/>
            <a:ext cx="427800" cy="462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5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35F0B"/>
              </a:buClr>
              <a:buSzPts val="2800"/>
              <a:buFont typeface="Arial Narrow"/>
              <a:buNone/>
            </a:pPr>
            <a:r>
              <a:rPr lang="es-MX"/>
              <a:t>Mud Report</a:t>
            </a:r>
            <a:endParaRPr/>
          </a:p>
        </p:txBody>
      </p:sp>
      <p:pic>
        <p:nvPicPr>
          <p:cNvPr id="281" name="Google Shape;281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5458" y="1052736"/>
            <a:ext cx="6950918" cy="5140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6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35F0B"/>
              </a:buClr>
              <a:buSzPts val="2800"/>
              <a:buFont typeface="Arial Narrow"/>
              <a:buNone/>
            </a:pPr>
            <a:r>
              <a:rPr lang="es-MX"/>
              <a:t>One Trax Modules</a:t>
            </a:r>
            <a:endParaRPr/>
          </a:p>
        </p:txBody>
      </p:sp>
      <p:pic>
        <p:nvPicPr>
          <p:cNvPr id="287" name="Google Shape;287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29755" y="836712"/>
            <a:ext cx="4962525" cy="526732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6"/>
          <p:cNvSpPr/>
          <p:nvPr/>
        </p:nvSpPr>
        <p:spPr>
          <a:xfrm>
            <a:off x="3059832" y="4077072"/>
            <a:ext cx="4032448" cy="144016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7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35F0B"/>
              </a:buClr>
              <a:buSzPts val="2800"/>
              <a:buFont typeface="Arial Narrow"/>
              <a:buNone/>
            </a:pPr>
            <a:r>
              <a:rPr lang="es-MX"/>
              <a:t>One-Trax Wellsite</a:t>
            </a:r>
            <a:endParaRPr/>
          </a:p>
        </p:txBody>
      </p:sp>
      <p:sp>
        <p:nvSpPr>
          <p:cNvPr id="294" name="Google Shape;294;p37"/>
          <p:cNvSpPr txBox="1"/>
          <p:nvPr/>
        </p:nvSpPr>
        <p:spPr>
          <a:xfrm>
            <a:off x="3203848" y="2852936"/>
            <a:ext cx="244827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El siguiente Objetivo…..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38"/>
          <p:cNvPicPr preferRelativeResize="0"/>
          <p:nvPr/>
        </p:nvPicPr>
        <p:blipFill rotWithShape="1">
          <a:blip r:embed="rId3">
            <a:alphaModFix/>
          </a:blip>
          <a:srcRect b="73855"/>
          <a:stretch/>
        </p:blipFill>
        <p:spPr>
          <a:xfrm>
            <a:off x="4499992" y="2492896"/>
            <a:ext cx="4283918" cy="1356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2787" y="1484784"/>
            <a:ext cx="3639173" cy="2808312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8"/>
          <p:cNvSpPr txBox="1">
            <a:spLocks noGrp="1"/>
          </p:cNvSpPr>
          <p:nvPr>
            <p:ph type="title"/>
          </p:nvPr>
        </p:nvSpPr>
        <p:spPr>
          <a:xfrm>
            <a:off x="4944509" y="1469136"/>
            <a:ext cx="3587931" cy="400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E35F0B"/>
              </a:buClr>
              <a:buSzPts val="2000"/>
              <a:buFont typeface="Arial Narrow"/>
              <a:buNone/>
            </a:pPr>
            <a:r>
              <a:rPr lang="es-MX" sz="2000">
                <a:solidFill>
                  <a:srgbClr val="E35F0B"/>
                </a:solidFill>
                <a:latin typeface="Arial Narrow"/>
                <a:ea typeface="Arial Narrow"/>
                <a:cs typeface="Arial Narrow"/>
                <a:sym typeface="Arial Narrow"/>
              </a:rPr>
              <a:t>Trabajo Eficiente en Equipo</a:t>
            </a:r>
            <a:endParaRPr sz="2000" b="1">
              <a:solidFill>
                <a:srgbClr val="E35F0B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302" name="Google Shape;302;p38"/>
          <p:cNvPicPr preferRelativeResize="0"/>
          <p:nvPr/>
        </p:nvPicPr>
        <p:blipFill rotWithShape="1">
          <a:blip r:embed="rId3">
            <a:alphaModFix/>
          </a:blip>
          <a:srcRect t="27210" b="48589"/>
          <a:stretch/>
        </p:blipFill>
        <p:spPr>
          <a:xfrm>
            <a:off x="4499992" y="2593703"/>
            <a:ext cx="4283918" cy="125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8"/>
          <p:cNvPicPr preferRelativeResize="0"/>
          <p:nvPr/>
        </p:nvPicPr>
        <p:blipFill rotWithShape="1">
          <a:blip r:embed="rId3">
            <a:alphaModFix/>
          </a:blip>
          <a:srcRect t="50533" b="26432"/>
          <a:stretch/>
        </p:blipFill>
        <p:spPr>
          <a:xfrm>
            <a:off x="4499992" y="2492896"/>
            <a:ext cx="4283918" cy="1194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8"/>
          <p:cNvPicPr preferRelativeResize="0"/>
          <p:nvPr/>
        </p:nvPicPr>
        <p:blipFill rotWithShape="1">
          <a:blip r:embed="rId3">
            <a:alphaModFix/>
          </a:blip>
          <a:srcRect t="73855" b="1944"/>
          <a:stretch/>
        </p:blipFill>
        <p:spPr>
          <a:xfrm>
            <a:off x="4499992" y="2522453"/>
            <a:ext cx="4283918" cy="12552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9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35F0B"/>
              </a:buClr>
              <a:buSzPts val="2800"/>
              <a:buFont typeface="Arial Narrow"/>
              <a:buNone/>
            </a:pPr>
            <a:r>
              <a:rPr lang="es-MX"/>
              <a:t>Trabajo en cooperación mutua</a:t>
            </a:r>
            <a:endParaRPr/>
          </a:p>
        </p:txBody>
      </p:sp>
      <p:pic>
        <p:nvPicPr>
          <p:cNvPr id="311" name="Google Shape;311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47664" y="1484784"/>
            <a:ext cx="1224136" cy="4176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9"/>
          <p:cNvPicPr preferRelativeResize="0"/>
          <p:nvPr/>
        </p:nvPicPr>
        <p:blipFill rotWithShape="1">
          <a:blip r:embed="rId4">
            <a:alphaModFix/>
          </a:blip>
          <a:srcRect b="82396"/>
          <a:stretch/>
        </p:blipFill>
        <p:spPr>
          <a:xfrm>
            <a:off x="2908205" y="2804437"/>
            <a:ext cx="5995392" cy="914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9"/>
          <p:cNvPicPr preferRelativeResize="0"/>
          <p:nvPr/>
        </p:nvPicPr>
        <p:blipFill rotWithShape="1">
          <a:blip r:embed="rId4">
            <a:alphaModFix/>
          </a:blip>
          <a:srcRect t="17101" b="66539"/>
          <a:stretch/>
        </p:blipFill>
        <p:spPr>
          <a:xfrm>
            <a:off x="2908205" y="2869133"/>
            <a:ext cx="5995392" cy="850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9"/>
          <p:cNvPicPr preferRelativeResize="0"/>
          <p:nvPr/>
        </p:nvPicPr>
        <p:blipFill rotWithShape="1">
          <a:blip r:embed="rId4">
            <a:alphaModFix/>
          </a:blip>
          <a:srcRect t="33269" b="50060"/>
          <a:stretch/>
        </p:blipFill>
        <p:spPr>
          <a:xfrm>
            <a:off x="2908205" y="2852936"/>
            <a:ext cx="5995392" cy="866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9"/>
          <p:cNvPicPr preferRelativeResize="0"/>
          <p:nvPr/>
        </p:nvPicPr>
        <p:blipFill rotWithShape="1">
          <a:blip r:embed="rId4">
            <a:alphaModFix/>
          </a:blip>
          <a:srcRect t="49749" b="34202"/>
          <a:stretch/>
        </p:blipFill>
        <p:spPr>
          <a:xfrm>
            <a:off x="2908205" y="2885273"/>
            <a:ext cx="5995392" cy="833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39"/>
          <p:cNvPicPr preferRelativeResize="0"/>
          <p:nvPr/>
        </p:nvPicPr>
        <p:blipFill rotWithShape="1">
          <a:blip r:embed="rId4">
            <a:alphaModFix/>
          </a:blip>
          <a:srcRect t="66850" b="17412"/>
          <a:stretch/>
        </p:blipFill>
        <p:spPr>
          <a:xfrm>
            <a:off x="2908205" y="2901470"/>
            <a:ext cx="5995392" cy="8176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39"/>
          <p:cNvPicPr preferRelativeResize="0"/>
          <p:nvPr/>
        </p:nvPicPr>
        <p:blipFill rotWithShape="1">
          <a:blip r:embed="rId4">
            <a:alphaModFix/>
          </a:blip>
          <a:srcRect t="82396"/>
          <a:stretch/>
        </p:blipFill>
        <p:spPr>
          <a:xfrm>
            <a:off x="2908205" y="2852936"/>
            <a:ext cx="5995392" cy="914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0"/>
          <p:cNvSpPr txBox="1">
            <a:spLocks noGrp="1"/>
          </p:cNvSpPr>
          <p:nvPr>
            <p:ph type="title"/>
          </p:nvPr>
        </p:nvSpPr>
        <p:spPr>
          <a:xfrm>
            <a:off x="685800" y="188640"/>
            <a:ext cx="7772400" cy="72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35F0B"/>
              </a:buClr>
              <a:buSzPts val="3600"/>
              <a:buFont typeface="Arial Narrow"/>
              <a:buNone/>
            </a:pPr>
            <a:r>
              <a:rPr lang="es-MX"/>
              <a:t>Break</a:t>
            </a:r>
            <a:endParaRPr/>
          </a:p>
        </p:txBody>
      </p:sp>
      <p:sp>
        <p:nvSpPr>
          <p:cNvPr id="323" name="Google Shape;323;p40"/>
          <p:cNvSpPr txBox="1">
            <a:spLocks noGrp="1"/>
          </p:cNvSpPr>
          <p:nvPr>
            <p:ph type="body" idx="1"/>
          </p:nvPr>
        </p:nvSpPr>
        <p:spPr>
          <a:xfrm>
            <a:off x="722313" y="1340768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MX"/>
              <a:t>Chile Miners Recue – October 2010</a:t>
            </a:r>
            <a:endParaRPr/>
          </a:p>
        </p:txBody>
      </p:sp>
      <p:pic>
        <p:nvPicPr>
          <p:cNvPr id="324" name="Google Shape;324;p40"/>
          <p:cNvPicPr preferRelativeResize="0"/>
          <p:nvPr/>
        </p:nvPicPr>
        <p:blipFill rotWithShape="1">
          <a:blip r:embed="rId3">
            <a:alphaModFix/>
          </a:blip>
          <a:srcRect l="18301" t="7980"/>
          <a:stretch/>
        </p:blipFill>
        <p:spPr>
          <a:xfrm>
            <a:off x="4143469" y="1831176"/>
            <a:ext cx="3935188" cy="3388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40" descr="RESCATE:-Carlos-Mamani-vuelve-a-nacer-en-Chile"/>
          <p:cNvPicPr preferRelativeResize="0"/>
          <p:nvPr/>
        </p:nvPicPr>
        <p:blipFill rotWithShape="1">
          <a:blip r:embed="rId4">
            <a:alphaModFix/>
          </a:blip>
          <a:srcRect t="854" b="854"/>
          <a:stretch/>
        </p:blipFill>
        <p:spPr>
          <a:xfrm>
            <a:off x="827826" y="1873763"/>
            <a:ext cx="3370235" cy="3330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ne Trax Presentacion">
  <a:themeElements>
    <a:clrScheme name="M-I SWACO SLB Color Palette">
      <a:dk1>
        <a:srgbClr val="000000"/>
      </a:dk1>
      <a:lt1>
        <a:srgbClr val="FFFFFF"/>
      </a:lt1>
      <a:dk2>
        <a:srgbClr val="E35F0B"/>
      </a:dk2>
      <a:lt2>
        <a:srgbClr val="DADADA"/>
      </a:lt2>
      <a:accent1>
        <a:srgbClr val="4873B9"/>
      </a:accent1>
      <a:accent2>
        <a:srgbClr val="E35F0B"/>
      </a:accent2>
      <a:accent3>
        <a:srgbClr val="A4A4A4"/>
      </a:accent3>
      <a:accent4>
        <a:srgbClr val="7EA241"/>
      </a:accent4>
      <a:accent5>
        <a:srgbClr val="003366"/>
      </a:accent5>
      <a:accent6>
        <a:srgbClr val="F79646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637</Words>
  <Application>Microsoft Office PowerPoint</Application>
  <PresentationFormat>Presentación en pantalla (4:3)</PresentationFormat>
  <Paragraphs>120</Paragraphs>
  <Slides>24</Slides>
  <Notes>24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7" baseType="lpstr">
      <vt:lpstr>Arial Narrow</vt:lpstr>
      <vt:lpstr>Arial</vt:lpstr>
      <vt:lpstr>One Trax Presentacion</vt:lpstr>
      <vt:lpstr>Standardizing ONE-TRAX WellSite</vt:lpstr>
      <vt:lpstr>LOG-IT</vt:lpstr>
      <vt:lpstr>Que es ONE -TRAX Central?</vt:lpstr>
      <vt:lpstr>Cuales son beneficios de ONE-TRAX Central?</vt:lpstr>
      <vt:lpstr>Presentación de PowerPoint</vt:lpstr>
      <vt:lpstr>¿Qué parámetros podemos localizar?</vt:lpstr>
      <vt:lpstr>One-Trax Wellsite</vt:lpstr>
      <vt:lpstr>Well Information</vt:lpstr>
      <vt:lpstr>Marketing Codes</vt:lpstr>
      <vt:lpstr>Well Casing Intervals</vt:lpstr>
      <vt:lpstr>Well Survey</vt:lpstr>
      <vt:lpstr>Activación de Productos/Equipos/Mallas</vt:lpstr>
      <vt:lpstr>Activación de Productos</vt:lpstr>
      <vt:lpstr>Activación de Equipos de Renta</vt:lpstr>
      <vt:lpstr>Activación de Mallas</vt:lpstr>
      <vt:lpstr>Benchmarks</vt:lpstr>
      <vt:lpstr>Benchmarks</vt:lpstr>
      <vt:lpstr>Benchmarks</vt:lpstr>
      <vt:lpstr>Mud Report</vt:lpstr>
      <vt:lpstr>One Trax Modules</vt:lpstr>
      <vt:lpstr>One-Trax Wellsite</vt:lpstr>
      <vt:lpstr>Trabajo Eficiente en Equipo</vt:lpstr>
      <vt:lpstr>Trabajo en cooperación mutua</vt:lpstr>
      <vt:lpstr>Break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USER</cp:lastModifiedBy>
  <cp:revision>1</cp:revision>
  <dcterms:modified xsi:type="dcterms:W3CDTF">2026-08-20T12:25:50Z</dcterms:modified>
</cp:coreProperties>
</file>